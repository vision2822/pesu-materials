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77" r:id="rId2"/>
    <p:sldId id="478" r:id="rId3"/>
    <p:sldId id="479" r:id="rId4"/>
    <p:sldId id="480" r:id="rId5"/>
    <p:sldId id="481" r:id="rId6"/>
    <p:sldId id="482" r:id="rId7"/>
    <p:sldId id="483" r:id="rId8"/>
    <p:sldId id="486" r:id="rId9"/>
    <p:sldId id="487" r:id="rId10"/>
    <p:sldId id="488" r:id="rId11"/>
    <p:sldId id="489" r:id="rId12"/>
    <p:sldId id="485" r:id="rId13"/>
    <p:sldId id="435" r:id="rId14"/>
    <p:sldId id="436" r:id="rId15"/>
    <p:sldId id="437" r:id="rId16"/>
    <p:sldId id="438" r:id="rId17"/>
    <p:sldId id="439" r:id="rId18"/>
    <p:sldId id="440" r:id="rId19"/>
    <p:sldId id="442" r:id="rId20"/>
    <p:sldId id="445" r:id="rId21"/>
    <p:sldId id="459" r:id="rId22"/>
    <p:sldId id="460" r:id="rId23"/>
    <p:sldId id="461" r:id="rId24"/>
    <p:sldId id="468" r:id="rId25"/>
    <p:sldId id="467" r:id="rId26"/>
    <p:sldId id="462" r:id="rId27"/>
    <p:sldId id="447" r:id="rId28"/>
    <p:sldId id="472" r:id="rId29"/>
    <p:sldId id="45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50" autoAdjust="0"/>
    <p:restoredTop sz="94660"/>
  </p:normalViewPr>
  <p:slideViewPr>
    <p:cSldViewPr snapToGrid="0">
      <p:cViewPr varScale="1">
        <p:scale>
          <a:sx n="63" d="100"/>
          <a:sy n="63" d="100"/>
        </p:scale>
        <p:origin x="876"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 Shobharani" userId="a20c4dfaf27c7208" providerId="LiveId" clId="{E7BA977B-64A5-44D5-A8F0-E1056CFEFA64}"/>
    <pc:docChg chg="modSld">
      <pc:chgData name="M Shobharani" userId="a20c4dfaf27c7208" providerId="LiveId" clId="{E7BA977B-64A5-44D5-A8F0-E1056CFEFA64}" dt="2025-08-29T15:20:44.718" v="1" actId="207"/>
      <pc:docMkLst>
        <pc:docMk/>
      </pc:docMkLst>
      <pc:sldChg chg="modSp mod">
        <pc:chgData name="M Shobharani" userId="a20c4dfaf27c7208" providerId="LiveId" clId="{E7BA977B-64A5-44D5-A8F0-E1056CFEFA64}" dt="2025-08-29T15:20:44.718" v="1" actId="207"/>
        <pc:sldMkLst>
          <pc:docMk/>
          <pc:sldMk cId="2415317195" sldId="437"/>
        </pc:sldMkLst>
        <pc:spChg chg="mod">
          <ac:chgData name="M Shobharani" userId="a20c4dfaf27c7208" providerId="LiveId" clId="{E7BA977B-64A5-44D5-A8F0-E1056CFEFA64}" dt="2025-08-29T15:20:44.718" v="1" actId="207"/>
          <ac:spMkLst>
            <pc:docMk/>
            <pc:sldMk cId="2415317195" sldId="437"/>
            <ac:spMk id="3" creationId="{DADC3F1F-DD13-422E-9450-2895A8B993A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E7196-0A1D-43F9-96F8-6131A8C3E5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91A347-14E4-4DA6-8466-E20F5DD0C1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F25BB59-6C06-4608-B9C2-AFD556E0E88B}"/>
              </a:ext>
            </a:extLst>
          </p:cNvPr>
          <p:cNvSpPr>
            <a:spLocks noGrp="1"/>
          </p:cNvSpPr>
          <p:nvPr>
            <p:ph type="dt" sz="half" idx="10"/>
          </p:nvPr>
        </p:nvSpPr>
        <p:spPr/>
        <p:txBody>
          <a:bodyPr/>
          <a:lstStyle/>
          <a:p>
            <a:fld id="{3717A1C5-95F7-4229-A93B-29F7FF3DA000}" type="datetimeFigureOut">
              <a:rPr lang="en-IN" smtClean="0"/>
              <a:pPr/>
              <a:t>29-08-2025</a:t>
            </a:fld>
            <a:endParaRPr lang="en-IN"/>
          </a:p>
        </p:txBody>
      </p:sp>
      <p:sp>
        <p:nvSpPr>
          <p:cNvPr id="5" name="Footer Placeholder 4">
            <a:extLst>
              <a:ext uri="{FF2B5EF4-FFF2-40B4-BE49-F238E27FC236}">
                <a16:creationId xmlns:a16="http://schemas.microsoft.com/office/drawing/2014/main" id="{DE024737-A7EA-405D-9C53-00DC763580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AFCA8F-5152-4E17-A634-AAC30C0A16CE}"/>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50938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97697-0E3B-45DE-993E-41D6192C54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F5D431-817D-468E-AC74-4AEFB8C24BA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E66076-D71B-432E-B3DA-D6BFA8E70485}"/>
              </a:ext>
            </a:extLst>
          </p:cNvPr>
          <p:cNvSpPr>
            <a:spLocks noGrp="1"/>
          </p:cNvSpPr>
          <p:nvPr>
            <p:ph type="dt" sz="half" idx="10"/>
          </p:nvPr>
        </p:nvSpPr>
        <p:spPr/>
        <p:txBody>
          <a:bodyPr/>
          <a:lstStyle/>
          <a:p>
            <a:fld id="{3717A1C5-95F7-4229-A93B-29F7FF3DA000}" type="datetimeFigureOut">
              <a:rPr lang="en-IN" smtClean="0"/>
              <a:pPr/>
              <a:t>29-08-2025</a:t>
            </a:fld>
            <a:endParaRPr lang="en-IN"/>
          </a:p>
        </p:txBody>
      </p:sp>
      <p:sp>
        <p:nvSpPr>
          <p:cNvPr id="5" name="Footer Placeholder 4">
            <a:extLst>
              <a:ext uri="{FF2B5EF4-FFF2-40B4-BE49-F238E27FC236}">
                <a16:creationId xmlns:a16="http://schemas.microsoft.com/office/drawing/2014/main" id="{86E9EAE1-A891-420F-AABF-E5D3570753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050AF0-4B82-4D90-9977-2702EFAD047E}"/>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3998037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76000-B1F3-49B4-8840-4F2FE09F31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F9AD8B6-0C53-47EB-9E27-9A8CFF9C0D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4A0F0A-5BC1-44A8-A937-DAAFBEA3CE4A}"/>
              </a:ext>
            </a:extLst>
          </p:cNvPr>
          <p:cNvSpPr>
            <a:spLocks noGrp="1"/>
          </p:cNvSpPr>
          <p:nvPr>
            <p:ph type="dt" sz="half" idx="10"/>
          </p:nvPr>
        </p:nvSpPr>
        <p:spPr/>
        <p:txBody>
          <a:bodyPr/>
          <a:lstStyle/>
          <a:p>
            <a:fld id="{3717A1C5-95F7-4229-A93B-29F7FF3DA000}" type="datetimeFigureOut">
              <a:rPr lang="en-IN" smtClean="0"/>
              <a:pPr/>
              <a:t>29-08-2025</a:t>
            </a:fld>
            <a:endParaRPr lang="en-IN"/>
          </a:p>
        </p:txBody>
      </p:sp>
      <p:sp>
        <p:nvSpPr>
          <p:cNvPr id="5" name="Footer Placeholder 4">
            <a:extLst>
              <a:ext uri="{FF2B5EF4-FFF2-40B4-BE49-F238E27FC236}">
                <a16:creationId xmlns:a16="http://schemas.microsoft.com/office/drawing/2014/main" id="{D516B7DB-3DF3-4E87-84F1-6D3BB836F2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586888-F8BA-4159-BE04-8C9B0A74B0BB}"/>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891180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1BC13-A691-4A44-8F09-DEAB94E6E2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0470BA-CF69-482F-86D7-B3B2B81039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EF3F02-F9D9-4D4B-932D-10D3C70151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154D0B3-961E-4BAC-9CA4-08D89CF82A20}"/>
              </a:ext>
            </a:extLst>
          </p:cNvPr>
          <p:cNvSpPr>
            <a:spLocks noGrp="1"/>
          </p:cNvSpPr>
          <p:nvPr>
            <p:ph type="dt" sz="half" idx="10"/>
          </p:nvPr>
        </p:nvSpPr>
        <p:spPr/>
        <p:txBody>
          <a:bodyPr/>
          <a:lstStyle/>
          <a:p>
            <a:fld id="{3717A1C5-95F7-4229-A93B-29F7FF3DA000}" type="datetimeFigureOut">
              <a:rPr lang="en-IN" smtClean="0"/>
              <a:pPr/>
              <a:t>29-08-2025</a:t>
            </a:fld>
            <a:endParaRPr lang="en-IN"/>
          </a:p>
        </p:txBody>
      </p:sp>
      <p:sp>
        <p:nvSpPr>
          <p:cNvPr id="6" name="Footer Placeholder 5">
            <a:extLst>
              <a:ext uri="{FF2B5EF4-FFF2-40B4-BE49-F238E27FC236}">
                <a16:creationId xmlns:a16="http://schemas.microsoft.com/office/drawing/2014/main" id="{8DD4364F-C564-48E4-84D0-352B17CE69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6B6F2F7-150E-4C49-B6B7-8E72E6E8E5A4}"/>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175150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61F13-E7B0-4450-891A-12D3F00317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070134-48F1-45F0-9C63-38634B426A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F6F59C-8B0A-4097-8A5D-BA9FB1FC2E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0E4A01-83B3-465C-B056-C028FF594C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CDF7CD2-C62B-450F-A438-929A17296D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13DBE79-A9B6-48AB-9F01-88AA6A05B5CE}"/>
              </a:ext>
            </a:extLst>
          </p:cNvPr>
          <p:cNvSpPr>
            <a:spLocks noGrp="1"/>
          </p:cNvSpPr>
          <p:nvPr>
            <p:ph type="dt" sz="half" idx="10"/>
          </p:nvPr>
        </p:nvSpPr>
        <p:spPr/>
        <p:txBody>
          <a:bodyPr/>
          <a:lstStyle/>
          <a:p>
            <a:fld id="{3717A1C5-95F7-4229-A93B-29F7FF3DA000}" type="datetimeFigureOut">
              <a:rPr lang="en-IN" smtClean="0"/>
              <a:pPr/>
              <a:t>29-08-2025</a:t>
            </a:fld>
            <a:endParaRPr lang="en-IN"/>
          </a:p>
        </p:txBody>
      </p:sp>
      <p:sp>
        <p:nvSpPr>
          <p:cNvPr id="8" name="Footer Placeholder 7">
            <a:extLst>
              <a:ext uri="{FF2B5EF4-FFF2-40B4-BE49-F238E27FC236}">
                <a16:creationId xmlns:a16="http://schemas.microsoft.com/office/drawing/2014/main" id="{FCA1A849-F61D-416C-82D9-FD2F0D5B297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D4E5968-BD8E-49EA-B1C0-883FDCD51EFD}"/>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4074283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5C0C5-C1DF-4B30-86BF-702058A090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980EB2-6319-452D-816A-655EE9C34746}"/>
              </a:ext>
            </a:extLst>
          </p:cNvPr>
          <p:cNvSpPr>
            <a:spLocks noGrp="1"/>
          </p:cNvSpPr>
          <p:nvPr>
            <p:ph type="dt" sz="half" idx="10"/>
          </p:nvPr>
        </p:nvSpPr>
        <p:spPr/>
        <p:txBody>
          <a:bodyPr/>
          <a:lstStyle/>
          <a:p>
            <a:fld id="{3717A1C5-95F7-4229-A93B-29F7FF3DA000}" type="datetimeFigureOut">
              <a:rPr lang="en-IN" smtClean="0"/>
              <a:pPr/>
              <a:t>29-08-2025</a:t>
            </a:fld>
            <a:endParaRPr lang="en-IN"/>
          </a:p>
        </p:txBody>
      </p:sp>
      <p:sp>
        <p:nvSpPr>
          <p:cNvPr id="4" name="Footer Placeholder 3">
            <a:extLst>
              <a:ext uri="{FF2B5EF4-FFF2-40B4-BE49-F238E27FC236}">
                <a16:creationId xmlns:a16="http://schemas.microsoft.com/office/drawing/2014/main" id="{12847E02-77DD-4F7C-9461-431051F3087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5B48EC9-FFDF-4F14-A006-9ED08C221D7A}"/>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735135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AC4010-3CC3-4ED9-BC47-437A2B95829A}"/>
              </a:ext>
            </a:extLst>
          </p:cNvPr>
          <p:cNvSpPr>
            <a:spLocks noGrp="1"/>
          </p:cNvSpPr>
          <p:nvPr>
            <p:ph type="dt" sz="half" idx="10"/>
          </p:nvPr>
        </p:nvSpPr>
        <p:spPr/>
        <p:txBody>
          <a:bodyPr/>
          <a:lstStyle/>
          <a:p>
            <a:fld id="{3717A1C5-95F7-4229-A93B-29F7FF3DA000}" type="datetimeFigureOut">
              <a:rPr lang="en-IN" smtClean="0"/>
              <a:pPr/>
              <a:t>29-08-2025</a:t>
            </a:fld>
            <a:endParaRPr lang="en-IN"/>
          </a:p>
        </p:txBody>
      </p:sp>
      <p:sp>
        <p:nvSpPr>
          <p:cNvPr id="3" name="Footer Placeholder 2">
            <a:extLst>
              <a:ext uri="{FF2B5EF4-FFF2-40B4-BE49-F238E27FC236}">
                <a16:creationId xmlns:a16="http://schemas.microsoft.com/office/drawing/2014/main" id="{E80484C3-38E2-44A7-AD87-98DF739A72E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707CE2B-838A-454A-852B-8EAFFA5BCF9F}"/>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11808889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18C39-136A-490F-82E6-B74F16102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C4E3FA5-A6D0-407B-9353-45807BDC70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65529D-8A1D-4CEC-ACF2-A9668B5DFA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1B61FA-7B4A-49EE-9F1B-8F14E749EEA0}"/>
              </a:ext>
            </a:extLst>
          </p:cNvPr>
          <p:cNvSpPr>
            <a:spLocks noGrp="1"/>
          </p:cNvSpPr>
          <p:nvPr>
            <p:ph type="dt" sz="half" idx="10"/>
          </p:nvPr>
        </p:nvSpPr>
        <p:spPr/>
        <p:txBody>
          <a:bodyPr/>
          <a:lstStyle/>
          <a:p>
            <a:fld id="{3717A1C5-95F7-4229-A93B-29F7FF3DA000}" type="datetimeFigureOut">
              <a:rPr lang="en-IN" smtClean="0"/>
              <a:pPr/>
              <a:t>29-08-2025</a:t>
            </a:fld>
            <a:endParaRPr lang="en-IN"/>
          </a:p>
        </p:txBody>
      </p:sp>
      <p:sp>
        <p:nvSpPr>
          <p:cNvPr id="6" name="Footer Placeholder 5">
            <a:extLst>
              <a:ext uri="{FF2B5EF4-FFF2-40B4-BE49-F238E27FC236}">
                <a16:creationId xmlns:a16="http://schemas.microsoft.com/office/drawing/2014/main" id="{BB6BDBE7-EB71-426C-8E02-2F39733F7F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4714907-13EA-4E79-8417-0EC5E502E486}"/>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3337483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C4529-7C3C-4D10-AD9C-86CB67D2BF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2173FF7-1E37-47DA-BCCB-AFDD0F6F84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C43DAF-8DA8-48F8-B118-56B11692BF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DBE107-EEF1-4F60-8BFB-A0B8F32EFE52}"/>
              </a:ext>
            </a:extLst>
          </p:cNvPr>
          <p:cNvSpPr>
            <a:spLocks noGrp="1"/>
          </p:cNvSpPr>
          <p:nvPr>
            <p:ph type="dt" sz="half" idx="10"/>
          </p:nvPr>
        </p:nvSpPr>
        <p:spPr/>
        <p:txBody>
          <a:bodyPr/>
          <a:lstStyle/>
          <a:p>
            <a:fld id="{3717A1C5-95F7-4229-A93B-29F7FF3DA000}" type="datetimeFigureOut">
              <a:rPr lang="en-IN" smtClean="0"/>
              <a:pPr/>
              <a:t>29-08-2025</a:t>
            </a:fld>
            <a:endParaRPr lang="en-IN"/>
          </a:p>
        </p:txBody>
      </p:sp>
      <p:sp>
        <p:nvSpPr>
          <p:cNvPr id="6" name="Footer Placeholder 5">
            <a:extLst>
              <a:ext uri="{FF2B5EF4-FFF2-40B4-BE49-F238E27FC236}">
                <a16:creationId xmlns:a16="http://schemas.microsoft.com/office/drawing/2014/main" id="{3BB2FC9C-1AB4-400D-8A60-C7B3A80585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25E51E-1606-443F-8DDC-5BC7A3D910FC}"/>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805698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81B9E-9443-4F41-8CDB-8E6E4CF2707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37440A-C0A0-4620-8CB7-BC24F4E100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ECDE26-EE92-4514-B595-DD288D69BDDA}"/>
              </a:ext>
            </a:extLst>
          </p:cNvPr>
          <p:cNvSpPr>
            <a:spLocks noGrp="1"/>
          </p:cNvSpPr>
          <p:nvPr>
            <p:ph type="dt" sz="half" idx="10"/>
          </p:nvPr>
        </p:nvSpPr>
        <p:spPr/>
        <p:txBody>
          <a:bodyPr/>
          <a:lstStyle/>
          <a:p>
            <a:fld id="{3717A1C5-95F7-4229-A93B-29F7FF3DA000}" type="datetimeFigureOut">
              <a:rPr lang="en-IN" smtClean="0"/>
              <a:pPr/>
              <a:t>29-08-2025</a:t>
            </a:fld>
            <a:endParaRPr lang="en-IN"/>
          </a:p>
        </p:txBody>
      </p:sp>
      <p:sp>
        <p:nvSpPr>
          <p:cNvPr id="5" name="Footer Placeholder 4">
            <a:extLst>
              <a:ext uri="{FF2B5EF4-FFF2-40B4-BE49-F238E27FC236}">
                <a16:creationId xmlns:a16="http://schemas.microsoft.com/office/drawing/2014/main" id="{CAB18649-6317-4A86-BF87-6BCCFA208E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9FA2ED-B0E3-48EA-BF01-F14C24A36C7D}"/>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876270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195C72-B502-4011-AB72-4BBC7CCE94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A45A48-60F9-47B3-9E1A-0E76EE6ED65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C2F640-11BE-4566-9603-D1D7F7E96FC4}"/>
              </a:ext>
            </a:extLst>
          </p:cNvPr>
          <p:cNvSpPr>
            <a:spLocks noGrp="1"/>
          </p:cNvSpPr>
          <p:nvPr>
            <p:ph type="dt" sz="half" idx="10"/>
          </p:nvPr>
        </p:nvSpPr>
        <p:spPr/>
        <p:txBody>
          <a:bodyPr/>
          <a:lstStyle/>
          <a:p>
            <a:fld id="{3717A1C5-95F7-4229-A93B-29F7FF3DA000}" type="datetimeFigureOut">
              <a:rPr lang="en-IN" smtClean="0"/>
              <a:pPr/>
              <a:t>29-08-2025</a:t>
            </a:fld>
            <a:endParaRPr lang="en-IN"/>
          </a:p>
        </p:txBody>
      </p:sp>
      <p:sp>
        <p:nvSpPr>
          <p:cNvPr id="5" name="Footer Placeholder 4">
            <a:extLst>
              <a:ext uri="{FF2B5EF4-FFF2-40B4-BE49-F238E27FC236}">
                <a16:creationId xmlns:a16="http://schemas.microsoft.com/office/drawing/2014/main" id="{BF45CB06-5043-4F88-9848-829BAD7A0D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693EAC-3ADD-4236-B7D3-0540B8D65BEC}"/>
              </a:ext>
            </a:extLst>
          </p:cNvPr>
          <p:cNvSpPr>
            <a:spLocks noGrp="1"/>
          </p:cNvSpPr>
          <p:nvPr>
            <p:ph type="sldNum" sz="quarter" idx="12"/>
          </p:nvPr>
        </p:nvSpPr>
        <p:spPr/>
        <p:txBody>
          <a:bodyPr/>
          <a:lstStyle/>
          <a:p>
            <a:fld id="{F77729C9-FBBD-4916-93BC-8B48DFD0D00A}" type="slidenum">
              <a:rPr lang="en-IN" smtClean="0"/>
              <a:pPr/>
              <a:t>‹#›</a:t>
            </a:fld>
            <a:endParaRPr lang="en-IN"/>
          </a:p>
        </p:txBody>
      </p:sp>
    </p:spTree>
    <p:extLst>
      <p:ext uri="{BB962C8B-B14F-4D97-AF65-F5344CB8AC3E}">
        <p14:creationId xmlns:p14="http://schemas.microsoft.com/office/powerpoint/2010/main" val="2910687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435DF9-745D-444C-9DD7-A6DD954688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A09DCF-D326-45B4-9E4E-070E325317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80EC5D-D4D0-42B9-9170-212F1B335C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17A1C5-95F7-4229-A93B-29F7FF3DA000}" type="datetimeFigureOut">
              <a:rPr lang="en-IN" smtClean="0"/>
              <a:pPr/>
              <a:t>29-08-2025</a:t>
            </a:fld>
            <a:endParaRPr lang="en-IN"/>
          </a:p>
        </p:txBody>
      </p:sp>
      <p:sp>
        <p:nvSpPr>
          <p:cNvPr id="5" name="Footer Placeholder 4">
            <a:extLst>
              <a:ext uri="{FF2B5EF4-FFF2-40B4-BE49-F238E27FC236}">
                <a16:creationId xmlns:a16="http://schemas.microsoft.com/office/drawing/2014/main" id="{D77E3022-2659-46A1-A7BE-9894421E21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6EAFC63-250A-46C7-8FC2-85F3F3181D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7729C9-FBBD-4916-93BC-8B48DFD0D00A}" type="slidenum">
              <a:rPr lang="en-IN" smtClean="0"/>
              <a:pPr/>
              <a:t>‹#›</a:t>
            </a:fld>
            <a:endParaRPr lang="en-IN"/>
          </a:p>
        </p:txBody>
      </p:sp>
    </p:spTree>
    <p:extLst>
      <p:ext uri="{BB962C8B-B14F-4D97-AF65-F5344CB8AC3E}">
        <p14:creationId xmlns:p14="http://schemas.microsoft.com/office/powerpoint/2010/main" val="29214269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www.legalservicesindia.com/forum/topic167-sajjan-singh-vs-state-of-rajasthan.html" TargetMode="External"/><Relationship Id="rId2" Type="http://schemas.openxmlformats.org/officeDocument/2006/relationships/hyperlink" Target="http://www.legalservicesindia.com/forum/topic168-sankari-prasad-singh-v-union-of-india.html"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www.legalserviceindia.com/article/l426-L.-C.-Golaknath-V.-State-Of-Punjab.html"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DFE3490-CF8C-4FDE-9D71-2170861F2A61}"/>
              </a:ext>
            </a:extLst>
          </p:cNvPr>
          <p:cNvSpPr/>
          <p:nvPr/>
        </p:nvSpPr>
        <p:spPr>
          <a:xfrm>
            <a:off x="598883" y="1465030"/>
            <a:ext cx="7497214" cy="1200329"/>
          </a:xfrm>
          <a:prstGeom prst="rect">
            <a:avLst/>
          </a:prstGeom>
        </p:spPr>
        <p:txBody>
          <a:bodyPr wrap="square">
            <a:spAutoFit/>
          </a:bodyPr>
          <a:lstStyle/>
          <a:p>
            <a:r>
              <a:rPr lang="en-US" sz="3600" b="1" cap="all" dirty="0"/>
              <a:t>Constitutional Law, cyber law, </a:t>
            </a:r>
            <a:r>
              <a:rPr lang="en-US" sz="3600" b="1" cap="all" dirty="0" err="1"/>
              <a:t>ip</a:t>
            </a:r>
            <a:r>
              <a:rPr lang="en-US" sz="3600" b="1" cap="all" dirty="0"/>
              <a:t> law and professional ethics</a:t>
            </a:r>
          </a:p>
        </p:txBody>
      </p:sp>
      <p:sp>
        <p:nvSpPr>
          <p:cNvPr id="13" name="Rectangle 12">
            <a:extLst>
              <a:ext uri="{FF2B5EF4-FFF2-40B4-BE49-F238E27FC236}">
                <a16:creationId xmlns:a16="http://schemas.microsoft.com/office/drawing/2014/main" id="{34CEFAD4-E477-4E46-B5A6-ADB26E6A2863}"/>
              </a:ext>
            </a:extLst>
          </p:cNvPr>
          <p:cNvSpPr/>
          <p:nvPr/>
        </p:nvSpPr>
        <p:spPr>
          <a:xfrm>
            <a:off x="598883" y="2888778"/>
            <a:ext cx="7497214" cy="1200329"/>
          </a:xfrm>
          <a:prstGeom prst="rect">
            <a:avLst/>
          </a:prstGeom>
        </p:spPr>
        <p:txBody>
          <a:bodyPr wrap="square">
            <a:spAutoFit/>
          </a:bodyPr>
          <a:lstStyle/>
          <a:p>
            <a:r>
              <a:rPr lang="en-US" sz="3600" b="1" dirty="0">
                <a:solidFill>
                  <a:schemeClr val="accent1">
                    <a:lumMod val="75000"/>
                  </a:schemeClr>
                </a:solidFill>
              </a:rPr>
              <a:t>Unit-1: Introduction to Constitution of India. </a:t>
            </a:r>
            <a:endParaRPr lang="en-IN" sz="3600" b="1" dirty="0">
              <a:solidFill>
                <a:schemeClr val="accent1">
                  <a:lumMod val="75000"/>
                </a:schemeClr>
              </a:solidFill>
            </a:endParaRPr>
          </a:p>
        </p:txBody>
      </p:sp>
      <p:grpSp>
        <p:nvGrpSpPr>
          <p:cNvPr id="20" name="Group 19">
            <a:extLst>
              <a:ext uri="{FF2B5EF4-FFF2-40B4-BE49-F238E27FC236}">
                <a16:creationId xmlns:a16="http://schemas.microsoft.com/office/drawing/2014/main" id="{87008925-27BE-4F37-8F3C-D51A4CE1017D}"/>
              </a:ext>
            </a:extLst>
          </p:cNvPr>
          <p:cNvGrpSpPr/>
          <p:nvPr/>
        </p:nvGrpSpPr>
        <p:grpSpPr>
          <a:xfrm>
            <a:off x="313844" y="5489699"/>
            <a:ext cx="1066895" cy="1078155"/>
            <a:chOff x="313844" y="5489699"/>
            <a:chExt cx="1066895" cy="1078155"/>
          </a:xfrm>
          <a:solidFill>
            <a:schemeClr val="accent2">
              <a:lumMod val="60000"/>
              <a:lumOff val="40000"/>
            </a:schemeClr>
          </a:solidFill>
        </p:grpSpPr>
        <p:sp>
          <p:nvSpPr>
            <p:cNvPr id="24" name="Rectangle 23">
              <a:extLst>
                <a:ext uri="{FF2B5EF4-FFF2-40B4-BE49-F238E27FC236}">
                  <a16:creationId xmlns:a16="http://schemas.microsoft.com/office/drawing/2014/main" id="{D05F1195-3C1E-433F-AC45-B08B7F507642}"/>
                </a:ext>
              </a:extLst>
            </p:cNvPr>
            <p:cNvSpPr/>
            <p:nvPr/>
          </p:nvSpPr>
          <p:spPr>
            <a:xfrm rot="5400000">
              <a:off x="824432" y="6011547"/>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4DA4F79B-7A52-499C-A65E-A51F3EDF5C3E}"/>
                </a:ext>
              </a:extLst>
            </p:cNvPr>
            <p:cNvSpPr/>
            <p:nvPr/>
          </p:nvSpPr>
          <p:spPr>
            <a:xfrm rot="10800000">
              <a:off x="313844" y="5489699"/>
              <a:ext cx="45719" cy="106689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cxnSp>
        <p:nvCxnSpPr>
          <p:cNvPr id="16" name="Straight Connector 15">
            <a:extLst>
              <a:ext uri="{FF2B5EF4-FFF2-40B4-BE49-F238E27FC236}">
                <a16:creationId xmlns:a16="http://schemas.microsoft.com/office/drawing/2014/main" id="{DD6B6443-C2DA-47C3-A986-5EE935046CC9}"/>
              </a:ext>
            </a:extLst>
          </p:cNvPr>
          <p:cNvCxnSpPr>
            <a:cxnSpLocks/>
          </p:cNvCxnSpPr>
          <p:nvPr/>
        </p:nvCxnSpPr>
        <p:spPr>
          <a:xfrm flipV="1">
            <a:off x="0" y="2596822"/>
            <a:ext cx="7904054" cy="68537"/>
          </a:xfrm>
          <a:prstGeom prst="line">
            <a:avLst/>
          </a:prstGeom>
          <a:ln w="38100">
            <a:solidFill>
              <a:srgbClr val="DFA267"/>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1E239FB4-2F01-7D7E-86D0-DBC738010F93}"/>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2885973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a:solidFill>
                  <a:schemeClr val="accent2">
                    <a:lumMod val="75000"/>
                  </a:schemeClr>
                </a:solidFill>
              </a:rPr>
              <a:t>Art. 13 </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71880" y="1513221"/>
            <a:ext cx="7898633" cy="5438412"/>
          </a:xfrm>
          <a:prstGeom prst="rect">
            <a:avLst/>
          </a:prstGeom>
          <a:noFill/>
        </p:spPr>
        <p:txBody>
          <a:bodyPr wrap="square" rtlCol="0">
            <a:spAutoFit/>
          </a:bodyPr>
          <a:lstStyle/>
          <a:p>
            <a:pPr marL="450342" indent="-285750">
              <a:lnSpc>
                <a:spcPct val="90000"/>
              </a:lnSpc>
              <a:spcBef>
                <a:spcPts val="0"/>
              </a:spcBef>
              <a:spcAft>
                <a:spcPts val="600"/>
              </a:spcAft>
              <a:buFont typeface="Wingdings" panose="05000000000000000000" pitchFamily="2" charset="2"/>
              <a:buChar char=""/>
            </a:pPr>
            <a:r>
              <a:rPr lang="en-US" sz="2400" b="1" dirty="0">
                <a:solidFill>
                  <a:srgbClr val="FF0000"/>
                </a:solidFill>
                <a:effectLst/>
                <a:ea typeface="Calibri" panose="020F0502020204030204" pitchFamily="34" charset="0"/>
                <a:cs typeface="Times New Roman" panose="02020603050405020304" pitchFamily="18" charset="0"/>
              </a:rPr>
              <a:t>13. Laws inconsistent with or in derogation of the fundamental rights</a:t>
            </a:r>
          </a:p>
          <a:p>
            <a:pPr marL="742950" marR="0" lvl="1" indent="-285750">
              <a:lnSpc>
                <a:spcPct val="90000"/>
              </a:lnSpc>
              <a:spcBef>
                <a:spcPts val="0"/>
              </a:spcBef>
              <a:spcAft>
                <a:spcPts val="600"/>
              </a:spcAft>
              <a:buFont typeface="Wingdings" panose="05000000000000000000" pitchFamily="2" charset="2"/>
              <a:buChar char=""/>
            </a:pPr>
            <a:r>
              <a:rPr lang="en-US" sz="2400" dirty="0">
                <a:effectLst/>
                <a:ea typeface="Calibri" panose="020F0502020204030204" pitchFamily="34" charset="0"/>
                <a:cs typeface="Times New Roman" panose="02020603050405020304" pitchFamily="18" charset="0"/>
              </a:rPr>
              <a:t>(1) </a:t>
            </a:r>
            <a:r>
              <a:rPr lang="en-US" sz="2400" u="sng" dirty="0">
                <a:effectLst/>
                <a:ea typeface="Calibri" panose="020F0502020204030204" pitchFamily="34" charset="0"/>
                <a:cs typeface="Times New Roman" panose="02020603050405020304" pitchFamily="18" charset="0"/>
              </a:rPr>
              <a:t>All laws in force</a:t>
            </a:r>
            <a:r>
              <a:rPr lang="en-US" sz="2400" dirty="0">
                <a:effectLst/>
                <a:ea typeface="Calibri" panose="020F0502020204030204" pitchFamily="34" charset="0"/>
                <a:cs typeface="Times New Roman" panose="02020603050405020304" pitchFamily="18" charset="0"/>
              </a:rPr>
              <a:t> in the </a:t>
            </a:r>
            <a:r>
              <a:rPr lang="en-US" sz="2400" u="sng" dirty="0">
                <a:effectLst/>
                <a:ea typeface="Calibri" panose="020F0502020204030204" pitchFamily="34" charset="0"/>
                <a:cs typeface="Times New Roman" panose="02020603050405020304" pitchFamily="18" charset="0"/>
              </a:rPr>
              <a:t>territory of India</a:t>
            </a:r>
            <a:r>
              <a:rPr lang="en-US" sz="2400" dirty="0">
                <a:effectLst/>
                <a:ea typeface="Calibri" panose="020F0502020204030204" pitchFamily="34" charset="0"/>
                <a:cs typeface="Times New Roman" panose="02020603050405020304" pitchFamily="18" charset="0"/>
              </a:rPr>
              <a:t> </a:t>
            </a:r>
            <a:r>
              <a:rPr lang="en-US" sz="2400" u="sng" dirty="0">
                <a:effectLst/>
                <a:ea typeface="Calibri" panose="020F0502020204030204" pitchFamily="34" charset="0"/>
                <a:cs typeface="Times New Roman" panose="02020603050405020304" pitchFamily="18" charset="0"/>
              </a:rPr>
              <a:t>immediately before the commencement of this Constitution</a:t>
            </a:r>
            <a:r>
              <a:rPr lang="en-US" sz="2400" dirty="0">
                <a:effectLst/>
                <a:ea typeface="Calibri" panose="020F0502020204030204" pitchFamily="34" charset="0"/>
                <a:cs typeface="Times New Roman" panose="02020603050405020304" pitchFamily="18" charset="0"/>
              </a:rPr>
              <a:t>, </a:t>
            </a:r>
            <a:r>
              <a:rPr lang="en-US" sz="2400" u="sng" dirty="0">
                <a:effectLst/>
                <a:ea typeface="Calibri" panose="020F0502020204030204" pitchFamily="34" charset="0"/>
                <a:cs typeface="Times New Roman" panose="02020603050405020304" pitchFamily="18" charset="0"/>
              </a:rPr>
              <a:t>in so far as they are inconsistent with the provisions of this Part, shall, to the extent of such inconsistency</a:t>
            </a:r>
            <a:r>
              <a:rPr lang="en-US" sz="2400" dirty="0">
                <a:effectLst/>
                <a:ea typeface="Calibri" panose="020F0502020204030204" pitchFamily="34" charset="0"/>
                <a:cs typeface="Times New Roman" panose="02020603050405020304" pitchFamily="18" charset="0"/>
              </a:rPr>
              <a:t>, be </a:t>
            </a:r>
            <a:r>
              <a:rPr lang="en-US" sz="2400" u="sng" dirty="0">
                <a:effectLst/>
                <a:ea typeface="Calibri" panose="020F0502020204030204" pitchFamily="34" charset="0"/>
                <a:cs typeface="Times New Roman" panose="02020603050405020304" pitchFamily="18" charset="0"/>
              </a:rPr>
              <a:t>void</a:t>
            </a:r>
          </a:p>
          <a:p>
            <a:pPr marL="742950" marR="0" lvl="1" indent="-285750">
              <a:lnSpc>
                <a:spcPct val="90000"/>
              </a:lnSpc>
              <a:spcBef>
                <a:spcPts val="0"/>
              </a:spcBef>
              <a:spcAft>
                <a:spcPts val="600"/>
              </a:spcAft>
              <a:buFont typeface="Wingdings" panose="05000000000000000000" pitchFamily="2" charset="2"/>
              <a:buChar char=""/>
            </a:pPr>
            <a:endParaRPr lang="en-US" sz="2400" u="sng" dirty="0">
              <a:ea typeface="Calibri" panose="020F0502020204030204" pitchFamily="34" charset="0"/>
              <a:cs typeface="Times New Roman" panose="02020603050405020304" pitchFamily="18" charset="0"/>
            </a:endParaRPr>
          </a:p>
          <a:p>
            <a:pPr marL="742950" marR="0" lvl="1" indent="-285750">
              <a:lnSpc>
                <a:spcPct val="90000"/>
              </a:lnSpc>
              <a:spcBef>
                <a:spcPts val="0"/>
              </a:spcBef>
              <a:spcAft>
                <a:spcPts val="600"/>
              </a:spcAft>
              <a:buFont typeface="Wingdings" panose="05000000000000000000" pitchFamily="2" charset="2"/>
              <a:buChar char=""/>
            </a:pPr>
            <a:r>
              <a:rPr lang="en-US" sz="2400" dirty="0">
                <a:effectLst/>
                <a:ea typeface="Calibri" panose="020F0502020204030204" pitchFamily="34" charset="0"/>
                <a:cs typeface="Times New Roman" panose="02020603050405020304" pitchFamily="18" charset="0"/>
              </a:rPr>
              <a:t>Laws</a:t>
            </a:r>
          </a:p>
          <a:p>
            <a:pPr marL="742950" marR="0" lvl="1" indent="-285750">
              <a:lnSpc>
                <a:spcPct val="90000"/>
              </a:lnSpc>
              <a:spcBef>
                <a:spcPts val="0"/>
              </a:spcBef>
              <a:spcAft>
                <a:spcPts val="600"/>
              </a:spcAft>
              <a:buFont typeface="Wingdings" panose="05000000000000000000" pitchFamily="2" charset="2"/>
              <a:buChar char=""/>
            </a:pPr>
            <a:r>
              <a:rPr lang="en-US" sz="2400" dirty="0">
                <a:ea typeface="Calibri" panose="020F0502020204030204" pitchFamily="34" charset="0"/>
                <a:cs typeface="Times New Roman" panose="02020603050405020304" pitchFamily="18" charset="0"/>
              </a:rPr>
              <a:t>In force</a:t>
            </a:r>
          </a:p>
          <a:p>
            <a:pPr marL="742950" marR="0" lvl="1" indent="-285750">
              <a:lnSpc>
                <a:spcPct val="90000"/>
              </a:lnSpc>
              <a:spcBef>
                <a:spcPts val="0"/>
              </a:spcBef>
              <a:spcAft>
                <a:spcPts val="600"/>
              </a:spcAft>
              <a:buFont typeface="Wingdings" panose="05000000000000000000" pitchFamily="2" charset="2"/>
              <a:buChar char=""/>
            </a:pPr>
            <a:r>
              <a:rPr lang="en-US" sz="2400" dirty="0">
                <a:effectLst/>
                <a:ea typeface="Calibri" panose="020F0502020204030204" pitchFamily="34" charset="0"/>
                <a:cs typeface="Times New Roman" panose="02020603050405020304" pitchFamily="18" charset="0"/>
              </a:rPr>
              <a:t>In the territory</a:t>
            </a:r>
          </a:p>
          <a:p>
            <a:pPr marL="742950" marR="0" lvl="1" indent="-285750">
              <a:lnSpc>
                <a:spcPct val="90000"/>
              </a:lnSpc>
              <a:spcBef>
                <a:spcPts val="0"/>
              </a:spcBef>
              <a:spcAft>
                <a:spcPts val="600"/>
              </a:spcAft>
              <a:buFont typeface="Wingdings" panose="05000000000000000000" pitchFamily="2" charset="2"/>
              <a:buChar char=""/>
            </a:pPr>
            <a:r>
              <a:rPr lang="en-US" sz="2400" dirty="0">
                <a:effectLst/>
                <a:ea typeface="Calibri" panose="020F0502020204030204" pitchFamily="34" charset="0"/>
                <a:cs typeface="Times New Roman" panose="02020603050405020304" pitchFamily="18" charset="0"/>
              </a:rPr>
              <a:t>before the commencement of this Constitution.</a:t>
            </a:r>
          </a:p>
          <a:p>
            <a:pPr marL="742950" marR="0" lvl="1" indent="-285750">
              <a:lnSpc>
                <a:spcPct val="90000"/>
              </a:lnSpc>
              <a:spcBef>
                <a:spcPts val="0"/>
              </a:spcBef>
              <a:spcAft>
                <a:spcPts val="600"/>
              </a:spcAft>
              <a:buFont typeface="Wingdings" panose="05000000000000000000" pitchFamily="2" charset="2"/>
              <a:buChar char=""/>
            </a:pPr>
            <a:r>
              <a:rPr lang="en-US" sz="2400" dirty="0">
                <a:ea typeface="Calibri" panose="020F0502020204030204" pitchFamily="34" charset="0"/>
                <a:cs typeface="Times New Roman" panose="02020603050405020304" pitchFamily="18" charset="0"/>
              </a:rPr>
              <a:t>Inconsistent with part III</a:t>
            </a:r>
          </a:p>
          <a:p>
            <a:pPr marL="742950" marR="0" lvl="1" indent="-285750">
              <a:lnSpc>
                <a:spcPct val="90000"/>
              </a:lnSpc>
              <a:spcBef>
                <a:spcPts val="0"/>
              </a:spcBef>
              <a:spcAft>
                <a:spcPts val="600"/>
              </a:spcAft>
              <a:buFont typeface="Wingdings" panose="05000000000000000000" pitchFamily="2" charset="2"/>
              <a:buChar char=""/>
            </a:pPr>
            <a:r>
              <a:rPr lang="en-US" sz="2400" dirty="0">
                <a:effectLst/>
                <a:ea typeface="Calibri" panose="020F0502020204030204" pitchFamily="34" charset="0"/>
                <a:cs typeface="Times New Roman" panose="02020603050405020304" pitchFamily="18" charset="0"/>
              </a:rPr>
              <a:t>Extent </a:t>
            </a:r>
            <a:r>
              <a:rPr lang="en-US" sz="2400" dirty="0">
                <a:ea typeface="Calibri" panose="020F0502020204030204" pitchFamily="34" charset="0"/>
                <a:cs typeface="Times New Roman" panose="02020603050405020304" pitchFamily="18" charset="0"/>
              </a:rPr>
              <a:t>of inconsistency</a:t>
            </a:r>
          </a:p>
          <a:p>
            <a:pPr marL="742950" marR="0" lvl="1" indent="-285750">
              <a:lnSpc>
                <a:spcPct val="90000"/>
              </a:lnSpc>
              <a:spcBef>
                <a:spcPts val="0"/>
              </a:spcBef>
              <a:spcAft>
                <a:spcPts val="600"/>
              </a:spcAft>
              <a:buFont typeface="Wingdings" panose="05000000000000000000" pitchFamily="2" charset="2"/>
              <a:buChar char=""/>
            </a:pPr>
            <a:r>
              <a:rPr lang="en-US" sz="2400" dirty="0">
                <a:effectLst/>
                <a:ea typeface="Calibri" panose="020F0502020204030204" pitchFamily="34" charset="0"/>
                <a:cs typeface="Times New Roman" panose="02020603050405020304" pitchFamily="18" charset="0"/>
              </a:rPr>
              <a:t>Void</a:t>
            </a:r>
          </a:p>
        </p:txBody>
      </p:sp>
      <p:pic>
        <p:nvPicPr>
          <p:cNvPr id="2" name="Picture 1">
            <a:extLst>
              <a:ext uri="{FF2B5EF4-FFF2-40B4-BE49-F238E27FC236}">
                <a16:creationId xmlns:a16="http://schemas.microsoft.com/office/drawing/2014/main" id="{E58D28C7-49B5-AEE2-7BA1-49B9758965D4}"/>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422019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a:solidFill>
                  <a:schemeClr val="accent2">
                    <a:lumMod val="75000"/>
                  </a:schemeClr>
                </a:solidFill>
              </a:rPr>
              <a:t>Art. 13 </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71880" y="1513221"/>
            <a:ext cx="7898633" cy="2163669"/>
          </a:xfrm>
          <a:prstGeom prst="rect">
            <a:avLst/>
          </a:prstGeom>
          <a:noFill/>
        </p:spPr>
        <p:txBody>
          <a:bodyPr wrap="square" rtlCol="0">
            <a:spAutoFit/>
          </a:bodyPr>
          <a:lstStyle/>
          <a:p>
            <a:pPr marL="450342" indent="-285750">
              <a:lnSpc>
                <a:spcPct val="90000"/>
              </a:lnSpc>
              <a:spcBef>
                <a:spcPts val="0"/>
              </a:spcBef>
              <a:spcAft>
                <a:spcPts val="600"/>
              </a:spcAft>
              <a:buFont typeface="Wingdings" panose="05000000000000000000" pitchFamily="2" charset="2"/>
              <a:buChar char=""/>
            </a:pPr>
            <a:r>
              <a:rPr lang="en-US" sz="2400" b="1" dirty="0">
                <a:solidFill>
                  <a:srgbClr val="FF0000"/>
                </a:solidFill>
                <a:effectLst/>
                <a:ea typeface="Calibri" panose="020F0502020204030204" pitchFamily="34" charset="0"/>
                <a:cs typeface="Times New Roman" panose="02020603050405020304" pitchFamily="18" charset="0"/>
              </a:rPr>
              <a:t>13. Laws inconsistent with or in derogation of the fundamental rights</a:t>
            </a:r>
          </a:p>
          <a:p>
            <a:pPr marL="742950" marR="0" lvl="1" indent="-285750">
              <a:lnSpc>
                <a:spcPct val="90000"/>
              </a:lnSpc>
              <a:spcBef>
                <a:spcPts val="0"/>
              </a:spcBef>
              <a:spcAft>
                <a:spcPts val="600"/>
              </a:spcAft>
              <a:buFont typeface="Wingdings" panose="05000000000000000000" pitchFamily="2" charset="2"/>
              <a:buChar char=""/>
            </a:pPr>
            <a:r>
              <a:rPr lang="en-US" sz="2400" dirty="0">
                <a:effectLst/>
                <a:ea typeface="Calibri" panose="020F0502020204030204" pitchFamily="34" charset="0"/>
                <a:cs typeface="Times New Roman" panose="02020603050405020304" pitchFamily="18" charset="0"/>
              </a:rPr>
              <a:t>(2) </a:t>
            </a:r>
            <a:r>
              <a:rPr lang="en-US" sz="2400" u="sng" dirty="0">
                <a:effectLst/>
                <a:ea typeface="Calibri" panose="020F0502020204030204" pitchFamily="34" charset="0"/>
                <a:cs typeface="Times New Roman" panose="02020603050405020304" pitchFamily="18" charset="0"/>
              </a:rPr>
              <a:t>The State</a:t>
            </a:r>
            <a:r>
              <a:rPr lang="en-US" sz="2400" dirty="0">
                <a:effectLst/>
                <a:ea typeface="Calibri" panose="020F0502020204030204" pitchFamily="34" charset="0"/>
                <a:cs typeface="Times New Roman" panose="02020603050405020304" pitchFamily="18" charset="0"/>
              </a:rPr>
              <a:t> </a:t>
            </a:r>
            <a:r>
              <a:rPr lang="en-US" sz="2400" u="sng" dirty="0">
                <a:effectLst/>
                <a:ea typeface="Calibri" panose="020F0502020204030204" pitchFamily="34" charset="0"/>
                <a:cs typeface="Times New Roman" panose="02020603050405020304" pitchFamily="18" charset="0"/>
              </a:rPr>
              <a:t>shall not make any law which takes away or abridges the rights conferred by this Part</a:t>
            </a:r>
            <a:r>
              <a:rPr lang="en-US" sz="2400" dirty="0">
                <a:effectLst/>
                <a:ea typeface="Calibri" panose="020F0502020204030204" pitchFamily="34" charset="0"/>
                <a:cs typeface="Times New Roman" panose="02020603050405020304" pitchFamily="18" charset="0"/>
              </a:rPr>
              <a:t> and </a:t>
            </a:r>
            <a:r>
              <a:rPr lang="en-US" sz="2400" u="sng" dirty="0">
                <a:effectLst/>
                <a:ea typeface="Calibri" panose="020F0502020204030204" pitchFamily="34" charset="0"/>
                <a:cs typeface="Times New Roman" panose="02020603050405020304" pitchFamily="18" charset="0"/>
              </a:rPr>
              <a:t>any law made in contravention of this clause shall, to the extent of the contravention</a:t>
            </a:r>
            <a:r>
              <a:rPr lang="en-US" sz="2400" dirty="0">
                <a:effectLst/>
                <a:ea typeface="Calibri" panose="020F0502020204030204" pitchFamily="34" charset="0"/>
                <a:cs typeface="Times New Roman" panose="02020603050405020304" pitchFamily="18" charset="0"/>
              </a:rPr>
              <a:t>, be </a:t>
            </a:r>
            <a:r>
              <a:rPr lang="en-US" sz="2400" u="sng" dirty="0">
                <a:effectLst/>
                <a:ea typeface="Calibri" panose="020F0502020204030204" pitchFamily="34" charset="0"/>
                <a:cs typeface="Times New Roman" panose="02020603050405020304" pitchFamily="18" charset="0"/>
              </a:rPr>
              <a:t>void</a:t>
            </a:r>
          </a:p>
        </p:txBody>
      </p:sp>
      <p:pic>
        <p:nvPicPr>
          <p:cNvPr id="2" name="Picture 1">
            <a:extLst>
              <a:ext uri="{FF2B5EF4-FFF2-40B4-BE49-F238E27FC236}">
                <a16:creationId xmlns:a16="http://schemas.microsoft.com/office/drawing/2014/main" id="{C6444535-54A0-9FB8-10A6-BB3604924F0B}"/>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4287295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a:solidFill>
                  <a:schemeClr val="accent2">
                    <a:lumMod val="75000"/>
                  </a:schemeClr>
                </a:solidFill>
              </a:rPr>
              <a:t>Art. 13 </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71880" y="1513221"/>
            <a:ext cx="7898633" cy="4976747"/>
          </a:xfrm>
          <a:prstGeom prst="rect">
            <a:avLst/>
          </a:prstGeom>
          <a:noFill/>
        </p:spPr>
        <p:txBody>
          <a:bodyPr wrap="square" rtlCol="0">
            <a:spAutoFit/>
          </a:bodyPr>
          <a:lstStyle/>
          <a:p>
            <a:pPr marL="742950" marR="0" lvl="1" indent="-285750" algn="just">
              <a:lnSpc>
                <a:spcPct val="90000"/>
              </a:lnSpc>
              <a:spcBef>
                <a:spcPts val="0"/>
              </a:spcBef>
              <a:spcAft>
                <a:spcPts val="600"/>
              </a:spcAft>
              <a:buFont typeface="Wingdings" panose="05000000000000000000" pitchFamily="2" charset="2"/>
              <a:buChar char=""/>
            </a:pPr>
            <a:r>
              <a:rPr lang="en-US" sz="1800" dirty="0">
                <a:effectLst/>
                <a:ea typeface="Calibri" panose="020F0502020204030204" pitchFamily="34" charset="0"/>
                <a:cs typeface="Times New Roman" panose="02020603050405020304" pitchFamily="18" charset="0"/>
              </a:rPr>
              <a:t>(</a:t>
            </a:r>
            <a:r>
              <a:rPr lang="en-US" sz="2400" dirty="0">
                <a:effectLst/>
                <a:ea typeface="Calibri" panose="020F0502020204030204" pitchFamily="34" charset="0"/>
                <a:cs typeface="Times New Roman" panose="02020603050405020304" pitchFamily="18" charset="0"/>
              </a:rPr>
              <a:t>3) In this article, unless the context otherwise requires </a:t>
            </a:r>
          </a:p>
          <a:p>
            <a:pPr marL="925830" lvl="2" indent="-285750" algn="just">
              <a:lnSpc>
                <a:spcPct val="90000"/>
              </a:lnSpc>
              <a:spcBef>
                <a:spcPts val="0"/>
              </a:spcBef>
              <a:spcAft>
                <a:spcPts val="600"/>
              </a:spcAft>
              <a:buFont typeface="Wingdings" panose="05000000000000000000" pitchFamily="2" charset="2"/>
              <a:buChar char=""/>
            </a:pPr>
            <a:r>
              <a:rPr lang="en-US" sz="2400" dirty="0">
                <a:ea typeface="Calibri" panose="020F0502020204030204" pitchFamily="34" charset="0"/>
                <a:cs typeface="Times New Roman" panose="02020603050405020304" pitchFamily="18" charset="0"/>
              </a:rPr>
              <a:t>(a) </a:t>
            </a:r>
            <a:r>
              <a:rPr lang="en-US" sz="2400" dirty="0">
                <a:effectLst/>
                <a:ea typeface="Calibri" panose="020F0502020204030204" pitchFamily="34" charset="0"/>
                <a:cs typeface="Times New Roman" panose="02020603050405020304" pitchFamily="18" charset="0"/>
              </a:rPr>
              <a:t>law includes any Ordinance, order, bye law, rule, regulation, notification, custom or usages having in the territory of India the force of law; </a:t>
            </a:r>
          </a:p>
          <a:p>
            <a:pPr marL="925830" lvl="2" indent="-285750" algn="just">
              <a:lnSpc>
                <a:spcPct val="90000"/>
              </a:lnSpc>
              <a:spcBef>
                <a:spcPts val="0"/>
              </a:spcBef>
              <a:spcAft>
                <a:spcPts val="600"/>
              </a:spcAft>
              <a:buFont typeface="Wingdings" panose="05000000000000000000" pitchFamily="2" charset="2"/>
              <a:buChar char=""/>
            </a:pPr>
            <a:r>
              <a:rPr lang="en-US" sz="2400" dirty="0">
                <a:ea typeface="Calibri" panose="020F0502020204030204" pitchFamily="34" charset="0"/>
                <a:cs typeface="Times New Roman" panose="02020603050405020304" pitchFamily="18" charset="0"/>
              </a:rPr>
              <a:t>(b) </a:t>
            </a:r>
            <a:r>
              <a:rPr lang="en-US" sz="2400" dirty="0">
                <a:effectLst/>
                <a:ea typeface="Calibri" panose="020F0502020204030204" pitchFamily="34" charset="0"/>
                <a:cs typeface="Times New Roman" panose="02020603050405020304" pitchFamily="18" charset="0"/>
              </a:rPr>
              <a:t>laws in force includes laws passed or made by Legislature or other competent authority in the territory of India before the commencement of this Constitution and not previously repealed, notwithstanding that any such law or any part thereof may not be then in operation either at all or in particular areas</a:t>
            </a:r>
          </a:p>
          <a:p>
            <a:pPr marL="742950" marR="0" lvl="1" indent="-285750" algn="just">
              <a:lnSpc>
                <a:spcPct val="90000"/>
              </a:lnSpc>
              <a:spcBef>
                <a:spcPts val="0"/>
              </a:spcBef>
              <a:spcAft>
                <a:spcPts val="600"/>
              </a:spcAft>
              <a:buFont typeface="Wingdings" panose="05000000000000000000" pitchFamily="2" charset="2"/>
              <a:buChar char=""/>
            </a:pPr>
            <a:r>
              <a:rPr lang="en-US" sz="2400" b="1" dirty="0">
                <a:effectLst/>
                <a:ea typeface="Calibri" panose="020F0502020204030204" pitchFamily="34" charset="0"/>
                <a:cs typeface="Times New Roman" panose="02020603050405020304" pitchFamily="18" charset="0"/>
              </a:rPr>
              <a:t>(4) Nothing in this article shall apply to any amendment of this Constitution made under Article 368.</a:t>
            </a:r>
            <a:r>
              <a:rPr lang="en-US" sz="2400" dirty="0">
                <a:effectLst/>
                <a:ea typeface="Calibri" panose="020F0502020204030204" pitchFamily="34" charset="0"/>
                <a:cs typeface="Times New Roman" panose="02020603050405020304" pitchFamily="18" charset="0"/>
              </a:rPr>
              <a:t> </a:t>
            </a:r>
            <a:endParaRPr lang="en-IN" sz="2400" dirty="0">
              <a:effectLst/>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03F9EEEE-10F6-7CF0-39EB-87BB78BE8ECE}"/>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3077415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a:solidFill>
                  <a:schemeClr val="accent2">
                    <a:lumMod val="75000"/>
                  </a:schemeClr>
                </a:solidFill>
              </a:rPr>
              <a:t>Art. 13 </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2308324"/>
          </a:xfrm>
          <a:prstGeom prst="rect">
            <a:avLst/>
          </a:prstGeom>
          <a:noFill/>
        </p:spPr>
        <p:txBody>
          <a:bodyPr wrap="square" rtlCol="0">
            <a:spAutoFit/>
          </a:bodyPr>
          <a:lstStyle/>
          <a:p>
            <a:pPr marL="342900" indent="-342900">
              <a:buFont typeface="Arial" panose="020B0604020202020204" pitchFamily="34" charset="0"/>
              <a:buChar char="•"/>
            </a:pPr>
            <a:r>
              <a:rPr lang="en-US" sz="2400" dirty="0"/>
              <a:t>Article 13(1) : pre-Constitutional law </a:t>
            </a:r>
          </a:p>
          <a:p>
            <a:pPr marL="342900" indent="-342900">
              <a:buFont typeface="Arial" panose="020B0604020202020204" pitchFamily="34" charset="0"/>
              <a:buChar char="•"/>
            </a:pPr>
            <a:r>
              <a:rPr lang="en-US" sz="2400" dirty="0"/>
              <a:t>Article 13(2): post-Constitutional Law </a:t>
            </a:r>
          </a:p>
          <a:p>
            <a:pPr marL="342900" indent="-342900">
              <a:buFont typeface="Arial" panose="020B0604020202020204" pitchFamily="34" charset="0"/>
              <a:buChar char="•"/>
            </a:pPr>
            <a:r>
              <a:rPr lang="en-US" sz="2400" dirty="0"/>
              <a:t>Article 13(3): defines laws in force and law in 13(1) and 13(2)</a:t>
            </a:r>
          </a:p>
          <a:p>
            <a:pPr marL="342900" indent="-342900">
              <a:buFont typeface="Arial" panose="020B0604020202020204" pitchFamily="34" charset="0"/>
              <a:buChar char="•"/>
            </a:pPr>
            <a:r>
              <a:rPr lang="en-US" sz="2400" dirty="0"/>
              <a:t>Article 13(4): exclusion of Constitutional Amendments from preview of Article 13</a:t>
            </a:r>
          </a:p>
        </p:txBody>
      </p:sp>
      <p:pic>
        <p:nvPicPr>
          <p:cNvPr id="2" name="Picture 1">
            <a:extLst>
              <a:ext uri="{FF2B5EF4-FFF2-40B4-BE49-F238E27FC236}">
                <a16:creationId xmlns:a16="http://schemas.microsoft.com/office/drawing/2014/main" id="{7B32FF8B-AD31-EB10-037E-0AACF8EDB925}"/>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3200874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a:solidFill>
                  <a:schemeClr val="accent2">
                    <a:lumMod val="75000"/>
                  </a:schemeClr>
                </a:solidFill>
              </a:rPr>
              <a:t>Unconstitutionality of Statutes </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a:t>Article 13(1) &amp; Article 13(2)</a:t>
            </a:r>
          </a:p>
          <a:p>
            <a:pPr marL="800100" lvl="1" indent="-342900">
              <a:buFont typeface="Arial" panose="020B0604020202020204" pitchFamily="34" charset="0"/>
              <a:buChar char="•"/>
            </a:pPr>
            <a:r>
              <a:rPr lang="en-US" sz="2400" dirty="0"/>
              <a:t>Deals with legislation inconsistent with provisions of Part III of the Constitution. </a:t>
            </a:r>
          </a:p>
          <a:p>
            <a:pPr marL="800100" lvl="1" indent="-342900">
              <a:buFont typeface="Arial" panose="020B0604020202020204" pitchFamily="34" charset="0"/>
              <a:buChar char="•"/>
            </a:pPr>
            <a:r>
              <a:rPr lang="en-US" sz="2400" dirty="0"/>
              <a:t>Void and Void ab initio</a:t>
            </a:r>
          </a:p>
          <a:p>
            <a:pPr marL="1257300" lvl="2" indent="-342900">
              <a:buFont typeface="Arial" panose="020B0604020202020204" pitchFamily="34" charset="0"/>
              <a:buChar char="•"/>
            </a:pPr>
            <a:r>
              <a:rPr lang="en-US" sz="2400" dirty="0"/>
              <a:t>Article 13(1): pre-constitutional law are void from 26/01/1950</a:t>
            </a:r>
          </a:p>
          <a:p>
            <a:pPr marL="1257300" lvl="2" indent="-342900">
              <a:buFont typeface="Arial" panose="020B0604020202020204" pitchFamily="34" charset="0"/>
              <a:buChar char="•"/>
            </a:pPr>
            <a:r>
              <a:rPr lang="en-US" sz="2400" dirty="0"/>
              <a:t>Article 13(2): post-constitutional law are void from inception or void-ab-initio </a:t>
            </a:r>
          </a:p>
        </p:txBody>
      </p:sp>
      <p:pic>
        <p:nvPicPr>
          <p:cNvPr id="2" name="Picture 1">
            <a:extLst>
              <a:ext uri="{FF2B5EF4-FFF2-40B4-BE49-F238E27FC236}">
                <a16:creationId xmlns:a16="http://schemas.microsoft.com/office/drawing/2014/main" id="{BDD579C0-E198-2146-19C5-2AAA50C195C2}"/>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878814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a:solidFill>
                  <a:schemeClr val="accent2">
                    <a:lumMod val="75000"/>
                  </a:schemeClr>
                </a:solidFill>
              </a:rPr>
              <a:t>Unconstitutionality of Statutes </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t>Three Doctrine pertaining to Article 13</a:t>
            </a:r>
          </a:p>
          <a:p>
            <a:pPr marL="800100" lvl="1" indent="-342900">
              <a:buFont typeface="Arial" panose="020B0604020202020204" pitchFamily="34" charset="0"/>
              <a:buChar char="•"/>
            </a:pPr>
            <a:r>
              <a:rPr lang="en-US" sz="2400" dirty="0"/>
              <a:t>Doctrine of Eclipse </a:t>
            </a:r>
          </a:p>
          <a:p>
            <a:pPr marL="800100" lvl="1" indent="-342900">
              <a:buFont typeface="Arial" panose="020B0604020202020204" pitchFamily="34" charset="0"/>
              <a:buChar char="•"/>
            </a:pPr>
            <a:r>
              <a:rPr lang="en-US" sz="2400" dirty="0"/>
              <a:t>Doctrine of Severability </a:t>
            </a:r>
          </a:p>
          <a:p>
            <a:pPr marL="800100" lvl="1" indent="-342900">
              <a:buFont typeface="Arial" panose="020B0604020202020204" pitchFamily="34" charset="0"/>
              <a:buChar char="•"/>
            </a:pPr>
            <a:r>
              <a:rPr lang="en-US" sz="2400" dirty="0"/>
              <a:t>Waiver of Fundamental Rights </a:t>
            </a:r>
          </a:p>
        </p:txBody>
      </p:sp>
      <p:pic>
        <p:nvPicPr>
          <p:cNvPr id="2" name="Picture 1">
            <a:extLst>
              <a:ext uri="{FF2B5EF4-FFF2-40B4-BE49-F238E27FC236}">
                <a16:creationId xmlns:a16="http://schemas.microsoft.com/office/drawing/2014/main" id="{3643EFAB-7CBA-804A-0ECC-04A695BF0F0F}"/>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1621707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a:solidFill>
                  <a:schemeClr val="accent2">
                    <a:lumMod val="75000"/>
                  </a:schemeClr>
                </a:solidFill>
              </a:rPr>
              <a:t>Doctrine of Eclipse </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4154984"/>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Doctrine of Eclipse</a:t>
            </a:r>
          </a:p>
          <a:p>
            <a:pPr marL="800100" lvl="1" indent="-342900" algn="just">
              <a:buFont typeface="Arial" panose="020B0604020202020204" pitchFamily="34" charset="0"/>
              <a:buChar char="•"/>
            </a:pPr>
            <a:r>
              <a:rPr lang="en-US" sz="2400" dirty="0"/>
              <a:t>pre-constitutional inconsistent with fundamental rights was not wiped out altogether from the statute book after the commencement of the Constitution</a:t>
            </a:r>
          </a:p>
          <a:p>
            <a:pPr marL="800100" lvl="1" indent="-342900" algn="just">
              <a:buFont typeface="Arial" panose="020B0604020202020204" pitchFamily="34" charset="0"/>
              <a:buChar char="•"/>
            </a:pPr>
            <a:r>
              <a:rPr lang="en-US" sz="2400" dirty="0"/>
              <a:t>continued to exist in respect of rights and liabilities which had accrued before the date of commencement of Constitution</a:t>
            </a:r>
          </a:p>
          <a:p>
            <a:pPr marL="800100" lvl="1" indent="-342900" algn="just">
              <a:buFont typeface="Arial" panose="020B0604020202020204" pitchFamily="34" charset="0"/>
              <a:buChar char="•"/>
            </a:pPr>
            <a:r>
              <a:rPr lang="en-US" sz="2400" dirty="0"/>
              <a:t>the law in question will be regarded as having been eclipsed for the time being by the relevant fundamental right</a:t>
            </a:r>
          </a:p>
          <a:p>
            <a:pPr marL="800100" lvl="1" indent="-342900" algn="just">
              <a:buFont typeface="Arial" panose="020B0604020202020204" pitchFamily="34" charset="0"/>
              <a:buChar char="•"/>
            </a:pPr>
            <a:r>
              <a:rPr lang="en-US" sz="2400" dirty="0"/>
              <a:t>will be in a dormant state for the time being </a:t>
            </a:r>
          </a:p>
        </p:txBody>
      </p:sp>
      <p:pic>
        <p:nvPicPr>
          <p:cNvPr id="2" name="Picture 1">
            <a:extLst>
              <a:ext uri="{FF2B5EF4-FFF2-40B4-BE49-F238E27FC236}">
                <a16:creationId xmlns:a16="http://schemas.microsoft.com/office/drawing/2014/main" id="{C43FFD1A-8307-FADC-AEEE-355D2A58F232}"/>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3761092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a:solidFill>
                  <a:schemeClr val="accent2">
                    <a:lumMod val="75000"/>
                  </a:schemeClr>
                </a:solidFill>
              </a:rPr>
              <a:t>Doctrine of Severability</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4893647"/>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A law is void only to the extent of the inconsistency or contravention with relevant fundamental rights. Art 13(1) means that an Act may not be void as a whole, only a part of it may be void and if that part is severable from the rest which is valid, then the rest may continue to stand and remain operative. If it is not possible to separate the valid from the invalid portion, then the whole statute will have to go. The rule the invalidity is only to the extent of inconsistency is not peculiar to the Constitution rather is a general principle of statutory interpretation. In determining whether the valid parts of a statute are severable from the invalid, the intention of the legislature is the determining factor. </a:t>
            </a:r>
          </a:p>
        </p:txBody>
      </p:sp>
      <p:pic>
        <p:nvPicPr>
          <p:cNvPr id="2" name="Picture 1">
            <a:extLst>
              <a:ext uri="{FF2B5EF4-FFF2-40B4-BE49-F238E27FC236}">
                <a16:creationId xmlns:a16="http://schemas.microsoft.com/office/drawing/2014/main" id="{3BACEB87-78A9-F625-D4BF-1C51B3188ED6}"/>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1693441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a:solidFill>
                  <a:schemeClr val="accent2">
                    <a:lumMod val="75000"/>
                  </a:schemeClr>
                </a:solidFill>
              </a:rPr>
              <a:t>Waiver of Fundamental Rights </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1200329"/>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No person can waive of his or her fundamental rights that are guaranteed on him or her by the State, not even with his or her own will.</a:t>
            </a:r>
          </a:p>
        </p:txBody>
      </p:sp>
      <p:pic>
        <p:nvPicPr>
          <p:cNvPr id="2" name="Picture 1">
            <a:extLst>
              <a:ext uri="{FF2B5EF4-FFF2-40B4-BE49-F238E27FC236}">
                <a16:creationId xmlns:a16="http://schemas.microsoft.com/office/drawing/2014/main" id="{A7000908-DD45-96A1-FEEB-DE1DBF117F1D}"/>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1072211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a:solidFill>
                  <a:schemeClr val="accent2">
                    <a:lumMod val="75000"/>
                  </a:schemeClr>
                </a:solidFill>
              </a:rPr>
              <a:t>Waiver of Fundamental Rights </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3416320"/>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solidFill>
                  <a:srgbClr val="FF0000"/>
                </a:solidFill>
              </a:rPr>
              <a:t>Art. 13(3)b</a:t>
            </a:r>
          </a:p>
          <a:p>
            <a:pPr marL="342900" indent="-342900" algn="just">
              <a:buFont typeface="Arial" panose="020B0604020202020204" pitchFamily="34" charset="0"/>
              <a:buChar char="•"/>
            </a:pPr>
            <a:r>
              <a:rPr lang="en-US" sz="2400" dirty="0"/>
              <a:t>Statutory laws</a:t>
            </a:r>
          </a:p>
          <a:p>
            <a:pPr marL="342900" indent="-342900" algn="just">
              <a:buFont typeface="Arial" panose="020B0604020202020204" pitchFamily="34" charset="0"/>
              <a:buChar char="•"/>
            </a:pPr>
            <a:r>
              <a:rPr lang="en-US" sz="2400" dirty="0">
                <a:effectLst/>
                <a:ea typeface="Calibri" panose="020F0502020204030204" pitchFamily="34" charset="0"/>
                <a:cs typeface="Times New Roman" panose="02020603050405020304" pitchFamily="18" charset="0"/>
              </a:rPr>
              <a:t>Order – made in pursuance of statutory authority</a:t>
            </a:r>
          </a:p>
          <a:p>
            <a:pPr marL="342900" indent="-342900" algn="just">
              <a:buFont typeface="Arial" panose="020B0604020202020204" pitchFamily="34" charset="0"/>
              <a:buChar char="•"/>
            </a:pPr>
            <a:r>
              <a:rPr lang="en-US" sz="2400" dirty="0">
                <a:effectLst/>
                <a:ea typeface="Calibri" panose="020F0502020204030204" pitchFamily="34" charset="0"/>
                <a:cs typeface="Times New Roman" panose="02020603050405020304" pitchFamily="18" charset="0"/>
              </a:rPr>
              <a:t> bye law – local authorities</a:t>
            </a:r>
          </a:p>
          <a:p>
            <a:pPr marL="342900" indent="-342900" algn="just">
              <a:buFont typeface="Arial" panose="020B0604020202020204" pitchFamily="34" charset="0"/>
              <a:buChar char="•"/>
            </a:pPr>
            <a:r>
              <a:rPr lang="en-US" sz="2400" dirty="0">
                <a:effectLst/>
                <a:ea typeface="Calibri" panose="020F0502020204030204" pitchFamily="34" charset="0"/>
                <a:cs typeface="Times New Roman" panose="02020603050405020304" pitchFamily="18" charset="0"/>
              </a:rPr>
              <a:t>Rule- delegated legislation  </a:t>
            </a:r>
          </a:p>
          <a:p>
            <a:pPr marL="342900" indent="-342900" algn="just">
              <a:buFont typeface="Arial" panose="020B0604020202020204" pitchFamily="34" charset="0"/>
              <a:buChar char="•"/>
            </a:pPr>
            <a:r>
              <a:rPr lang="en-US" sz="2400" dirty="0">
                <a:effectLst/>
                <a:ea typeface="Calibri" panose="020F0502020204030204" pitchFamily="34" charset="0"/>
                <a:cs typeface="Times New Roman" panose="02020603050405020304" pitchFamily="18" charset="0"/>
              </a:rPr>
              <a:t>Regulation- regulate day to day</a:t>
            </a:r>
          </a:p>
          <a:p>
            <a:pPr marL="342900" indent="-342900" algn="just">
              <a:buFont typeface="Arial" panose="020B0604020202020204" pitchFamily="34" charset="0"/>
              <a:buChar char="•"/>
            </a:pPr>
            <a:r>
              <a:rPr lang="en-US" sz="2400" dirty="0">
                <a:effectLst/>
                <a:ea typeface="Calibri" panose="020F0502020204030204" pitchFamily="34" charset="0"/>
                <a:cs typeface="Times New Roman" panose="02020603050405020304" pitchFamily="18" charset="0"/>
              </a:rPr>
              <a:t>Notification- announce</a:t>
            </a:r>
            <a:r>
              <a:rPr lang="en-US" sz="2400" dirty="0">
                <a:ea typeface="Calibri" panose="020F0502020204030204" pitchFamily="34" charset="0"/>
                <a:cs typeface="Times New Roman" panose="02020603050405020304" pitchFamily="18" charset="0"/>
              </a:rPr>
              <a:t>ment</a:t>
            </a:r>
            <a:endParaRPr lang="en-US" sz="2400" dirty="0">
              <a:effectLst/>
              <a:ea typeface="Calibri" panose="020F0502020204030204" pitchFamily="34" charset="0"/>
              <a:cs typeface="Times New Roman" panose="02020603050405020304" pitchFamily="18" charset="0"/>
            </a:endParaRPr>
          </a:p>
          <a:p>
            <a:pPr marL="342900" indent="-342900" algn="just">
              <a:buFont typeface="Arial" panose="020B0604020202020204" pitchFamily="34" charset="0"/>
              <a:buChar char="•"/>
            </a:pPr>
            <a:r>
              <a:rPr lang="en-US" sz="2400" dirty="0">
                <a:effectLst/>
                <a:ea typeface="Calibri" panose="020F0502020204030204" pitchFamily="34" charset="0"/>
                <a:cs typeface="Times New Roman" panose="02020603050405020304" pitchFamily="18" charset="0"/>
              </a:rPr>
              <a:t> custom or Usages </a:t>
            </a:r>
          </a:p>
          <a:p>
            <a:pPr marL="342900" indent="-342900" algn="just">
              <a:buFont typeface="Arial" panose="020B0604020202020204" pitchFamily="34" charset="0"/>
              <a:buChar char="•"/>
            </a:pPr>
            <a:r>
              <a:rPr lang="en-US" sz="2400" dirty="0">
                <a:cs typeface="Times New Roman" panose="02020603050405020304" pitchFamily="18" charset="0"/>
              </a:rPr>
              <a:t>Having force of law</a:t>
            </a:r>
            <a:endParaRPr lang="en-US" sz="2400" dirty="0"/>
          </a:p>
        </p:txBody>
      </p:sp>
      <p:pic>
        <p:nvPicPr>
          <p:cNvPr id="2" name="Picture 1">
            <a:extLst>
              <a:ext uri="{FF2B5EF4-FFF2-40B4-BE49-F238E27FC236}">
                <a16:creationId xmlns:a16="http://schemas.microsoft.com/office/drawing/2014/main" id="{0ACAEAB4-832C-BB1D-B484-EAF72F3D9AA7}"/>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15778700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IN" sz="2400" b="1" dirty="0">
                <a:solidFill>
                  <a:schemeClr val="accent2">
                    <a:lumMod val="75000"/>
                  </a:schemeClr>
                </a:solidFill>
              </a:rPr>
              <a:t>Waiver of Fundamental Rights </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4893647"/>
          </a:xfrm>
          <a:prstGeom prst="rect">
            <a:avLst/>
          </a:prstGeom>
          <a:noFill/>
        </p:spPr>
        <p:txBody>
          <a:bodyPr wrap="square" rtlCol="0">
            <a:spAutoFit/>
          </a:bodyPr>
          <a:lstStyle/>
          <a:p>
            <a:pPr marL="342900" indent="-342900" algn="just">
              <a:buFont typeface="Arial" panose="020B0604020202020204" pitchFamily="34" charset="0"/>
              <a:buChar char="•"/>
            </a:pPr>
            <a:r>
              <a:rPr lang="en-US" sz="2400" b="1" dirty="0">
                <a:effectLst/>
                <a:ea typeface="Calibri" panose="020F0502020204030204" pitchFamily="34" charset="0"/>
                <a:cs typeface="Times New Roman" panose="02020603050405020304" pitchFamily="18" charset="0"/>
              </a:rPr>
              <a:t>13(4) Nothing in this article shall apply to any amendment of this Constitution made under Article 368.</a:t>
            </a:r>
          </a:p>
          <a:p>
            <a:pPr marL="342900" indent="-342900" algn="just">
              <a:buFont typeface="Arial" panose="020B0604020202020204" pitchFamily="34" charset="0"/>
              <a:buChar char="•"/>
            </a:pPr>
            <a:r>
              <a:rPr lang="en-US" sz="2400" b="0" i="0" u="sng" dirty="0" err="1">
                <a:effectLst/>
                <a:hlinkClick r:id="rId2">
                  <a:extLst>
                    <a:ext uri="{A12FA001-AC4F-418D-AE19-62706E023703}">
                      <ahyp:hlinkClr xmlns:ahyp="http://schemas.microsoft.com/office/drawing/2018/hyperlinkcolor" val="tx"/>
                    </a:ext>
                  </a:extLst>
                </a:hlinkClick>
              </a:rPr>
              <a:t>Shankari</a:t>
            </a:r>
            <a:r>
              <a:rPr lang="en-US" sz="2400" b="0" i="0" u="sng" dirty="0">
                <a:effectLst/>
                <a:hlinkClick r:id="rId2">
                  <a:extLst>
                    <a:ext uri="{A12FA001-AC4F-418D-AE19-62706E023703}">
                      <ahyp:hlinkClr xmlns:ahyp="http://schemas.microsoft.com/office/drawing/2018/hyperlinkcolor" val="tx"/>
                    </a:ext>
                  </a:extLst>
                </a:hlinkClick>
              </a:rPr>
              <a:t> Prasad </a:t>
            </a:r>
            <a:r>
              <a:rPr lang="en-US" sz="2400" b="0" i="0" dirty="0">
                <a:effectLst/>
                <a:hlinkClick r:id="rId2">
                  <a:extLst>
                    <a:ext uri="{A12FA001-AC4F-418D-AE19-62706E023703}">
                      <ahyp:hlinkClr xmlns:ahyp="http://schemas.microsoft.com/office/drawing/2018/hyperlinkcolor" val="tx"/>
                    </a:ext>
                  </a:extLst>
                </a:hlinkClick>
              </a:rPr>
              <a:t>V. Union of India</a:t>
            </a:r>
            <a:endParaRPr lang="en-US" sz="2400" dirty="0"/>
          </a:p>
          <a:p>
            <a:pPr marL="800100" lvl="1" indent="-342900" algn="just">
              <a:buFont typeface="Arial" panose="020B0604020202020204" pitchFamily="34" charset="0"/>
              <a:buChar char="•"/>
            </a:pPr>
            <a:r>
              <a:rPr lang="en-US" sz="2400" b="0" i="0" dirty="0">
                <a:effectLst/>
              </a:rPr>
              <a:t> A</a:t>
            </a:r>
            <a:r>
              <a:rPr lang="en-US" sz="2400" b="0" i="0" dirty="0">
                <a:solidFill>
                  <a:srgbClr val="333333"/>
                </a:solidFill>
                <a:effectLst/>
              </a:rPr>
              <a:t>n amendment is not a law within the meaning of Article 13(2)	</a:t>
            </a:r>
            <a:endParaRPr lang="en-US" sz="2400" b="1" i="0" dirty="0">
              <a:cs typeface="Times New Roman" panose="02020603050405020304" pitchFamily="18" charset="0"/>
            </a:endParaRPr>
          </a:p>
          <a:p>
            <a:pPr marL="342900" indent="-342900" algn="just">
              <a:buFont typeface="Arial" panose="020B0604020202020204" pitchFamily="34" charset="0"/>
              <a:buChar char="•"/>
            </a:pPr>
            <a:r>
              <a:rPr lang="en-US" sz="2400" b="0" i="0" dirty="0">
                <a:effectLst/>
                <a:hlinkClick r:id="rId3">
                  <a:extLst>
                    <a:ext uri="{A12FA001-AC4F-418D-AE19-62706E023703}">
                      <ahyp:hlinkClr xmlns:ahyp="http://schemas.microsoft.com/office/drawing/2018/hyperlinkcolor" val="tx"/>
                    </a:ext>
                  </a:extLst>
                </a:hlinkClick>
              </a:rPr>
              <a:t>Sajjan </a:t>
            </a:r>
            <a:r>
              <a:rPr lang="en-US" sz="2400" b="0" i="0" dirty="0" err="1">
                <a:effectLst/>
                <a:hlinkClick r:id="rId3">
                  <a:extLst>
                    <a:ext uri="{A12FA001-AC4F-418D-AE19-62706E023703}">
                      <ahyp:hlinkClr xmlns:ahyp="http://schemas.microsoft.com/office/drawing/2018/hyperlinkcolor" val="tx"/>
                    </a:ext>
                  </a:extLst>
                </a:hlinkClick>
              </a:rPr>
              <a:t>singh</a:t>
            </a:r>
            <a:r>
              <a:rPr lang="en-US" sz="2400" b="0" i="0" dirty="0">
                <a:effectLst/>
                <a:hlinkClick r:id="rId3">
                  <a:extLst>
                    <a:ext uri="{A12FA001-AC4F-418D-AE19-62706E023703}">
                      <ahyp:hlinkClr xmlns:ahyp="http://schemas.microsoft.com/office/drawing/2018/hyperlinkcolor" val="tx"/>
                    </a:ext>
                  </a:extLst>
                </a:hlinkClick>
              </a:rPr>
              <a:t> V. State of Rajasthan</a:t>
            </a:r>
            <a:r>
              <a:rPr lang="en-US" sz="2400" b="0" i="0" dirty="0">
                <a:effectLst/>
              </a:rPr>
              <a:t> </a:t>
            </a:r>
          </a:p>
          <a:p>
            <a:pPr marL="800100" lvl="1" indent="-342900" algn="just">
              <a:buFont typeface="Arial" panose="020B0604020202020204" pitchFamily="34" charset="0"/>
              <a:buChar char="•"/>
            </a:pPr>
            <a:r>
              <a:rPr lang="en-US" sz="2400" dirty="0">
                <a:cs typeface="Times New Roman" panose="02020603050405020304" pitchFamily="18" charset="0"/>
              </a:rPr>
              <a:t>Followed the previous decision</a:t>
            </a:r>
            <a:endParaRPr lang="en-US" sz="2400" b="1" dirty="0">
              <a:effectLst/>
              <a:cs typeface="Times New Roman" panose="02020603050405020304" pitchFamily="18" charset="0"/>
            </a:endParaRPr>
          </a:p>
          <a:p>
            <a:pPr marL="342900" indent="-342900" algn="just">
              <a:buFont typeface="Arial" panose="020B0604020202020204" pitchFamily="34" charset="0"/>
              <a:buChar char="•"/>
            </a:pPr>
            <a:r>
              <a:rPr lang="en-US" sz="2400" b="0" i="0" dirty="0">
                <a:effectLst/>
                <a:hlinkClick r:id="rId4">
                  <a:extLst>
                    <a:ext uri="{A12FA001-AC4F-418D-AE19-62706E023703}">
                      <ahyp:hlinkClr xmlns:ahyp="http://schemas.microsoft.com/office/drawing/2018/hyperlinkcolor" val="tx"/>
                    </a:ext>
                  </a:extLst>
                </a:hlinkClick>
              </a:rPr>
              <a:t>I.C </a:t>
            </a:r>
            <a:r>
              <a:rPr lang="en-US" sz="2400" b="0" i="0" dirty="0" err="1">
                <a:effectLst/>
                <a:hlinkClick r:id="rId4">
                  <a:extLst>
                    <a:ext uri="{A12FA001-AC4F-418D-AE19-62706E023703}">
                      <ahyp:hlinkClr xmlns:ahyp="http://schemas.microsoft.com/office/drawing/2018/hyperlinkcolor" val="tx"/>
                    </a:ext>
                  </a:extLst>
                </a:hlinkClick>
              </a:rPr>
              <a:t>Golaknath</a:t>
            </a:r>
            <a:r>
              <a:rPr lang="en-US" sz="2400" b="0" i="0" dirty="0">
                <a:effectLst/>
                <a:hlinkClick r:id="rId4">
                  <a:extLst>
                    <a:ext uri="{A12FA001-AC4F-418D-AE19-62706E023703}">
                      <ahyp:hlinkClr xmlns:ahyp="http://schemas.microsoft.com/office/drawing/2018/hyperlinkcolor" val="tx"/>
                    </a:ext>
                  </a:extLst>
                </a:hlinkClick>
              </a:rPr>
              <a:t> V. State of Punjab</a:t>
            </a:r>
            <a:r>
              <a:rPr lang="en-US" sz="2400" b="0" i="0" dirty="0">
                <a:effectLst/>
              </a:rPr>
              <a:t> </a:t>
            </a:r>
          </a:p>
          <a:p>
            <a:pPr marL="800100" lvl="1" indent="-342900" algn="just">
              <a:buFont typeface="Arial" panose="020B0604020202020204" pitchFamily="34" charset="0"/>
              <a:buChar char="•"/>
            </a:pPr>
            <a:r>
              <a:rPr lang="en-US" sz="2400" i="0" dirty="0">
                <a:cs typeface="Times New Roman" panose="02020603050405020304" pitchFamily="18" charset="0"/>
              </a:rPr>
              <a:t>Overruled its decision in </a:t>
            </a:r>
            <a:r>
              <a:rPr lang="en-US" sz="2400" i="0" dirty="0" err="1">
                <a:cs typeface="Times New Roman" panose="02020603050405020304" pitchFamily="18" charset="0"/>
              </a:rPr>
              <a:t>Shankari</a:t>
            </a:r>
            <a:r>
              <a:rPr lang="en-US" sz="2400" i="0" dirty="0">
                <a:cs typeface="Times New Roman" panose="02020603050405020304" pitchFamily="18" charset="0"/>
              </a:rPr>
              <a:t> Prasad and Sajjan Singh</a:t>
            </a:r>
          </a:p>
          <a:p>
            <a:pPr marL="800100" lvl="1" indent="-342900" algn="just">
              <a:buFont typeface="Arial" panose="020B0604020202020204" pitchFamily="34" charset="0"/>
              <a:buChar char="•"/>
            </a:pPr>
            <a:r>
              <a:rPr lang="en-US" sz="2400" i="0" dirty="0">
                <a:solidFill>
                  <a:srgbClr val="FF0000"/>
                </a:solidFill>
                <a:cs typeface="Times New Roman" panose="02020603050405020304" pitchFamily="18" charset="0"/>
              </a:rPr>
              <a:t>24th Amendment Act, 1971</a:t>
            </a:r>
          </a:p>
          <a:p>
            <a:pPr marL="342900" indent="-342900" algn="just">
              <a:buFont typeface="Arial" panose="020B0604020202020204" pitchFamily="34" charset="0"/>
              <a:buChar char="•"/>
            </a:pPr>
            <a:r>
              <a:rPr lang="en-IN" sz="2400" b="0" i="0" dirty="0" err="1">
                <a:effectLst/>
              </a:rPr>
              <a:t>Kesavananda</a:t>
            </a:r>
            <a:r>
              <a:rPr lang="en-IN" sz="2400" b="0" i="0" dirty="0">
                <a:effectLst/>
              </a:rPr>
              <a:t> Bharti V. State Of Kerela</a:t>
            </a:r>
          </a:p>
          <a:p>
            <a:pPr marL="800100" lvl="1" indent="-342900" algn="just">
              <a:buFont typeface="Arial" panose="020B0604020202020204" pitchFamily="34" charset="0"/>
              <a:buChar char="•"/>
            </a:pPr>
            <a:r>
              <a:rPr lang="en-IN" sz="2400" dirty="0">
                <a:ea typeface="Calibri" panose="020F0502020204030204" pitchFamily="34" charset="0"/>
                <a:cs typeface="Times New Roman" panose="02020603050405020304" pitchFamily="18" charset="0"/>
              </a:rPr>
              <a:t>Basic Structure </a:t>
            </a:r>
            <a:endParaRPr lang="en-US" sz="2400" b="1" dirty="0">
              <a:effectLst/>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FF9DE579-75AA-F16C-0428-FF9BF24D01C2}"/>
              </a:ext>
            </a:extLst>
          </p:cNvPr>
          <p:cNvPicPr>
            <a:picLocks noChangeAspect="1"/>
          </p:cNvPicPr>
          <p:nvPr/>
        </p:nvPicPr>
        <p:blipFill rotWithShape="1">
          <a:blip r:embed="rId5"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35766658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Doctrine of Equality: Article 14 </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t>Right to Equality </a:t>
            </a:r>
          </a:p>
          <a:p>
            <a:pPr marL="800100" lvl="1" indent="-342900">
              <a:buFont typeface="Arial" panose="020B0604020202020204" pitchFamily="34" charset="0"/>
              <a:buChar char="•"/>
            </a:pPr>
            <a:r>
              <a:rPr lang="en-US" sz="2400" dirty="0"/>
              <a:t>Article 14 to 18 </a:t>
            </a:r>
          </a:p>
          <a:p>
            <a:pPr marL="800100" lvl="1" indent="-342900">
              <a:buFont typeface="Arial" panose="020B0604020202020204" pitchFamily="34" charset="0"/>
              <a:buChar char="•"/>
            </a:pPr>
            <a:r>
              <a:rPr lang="en-US" sz="2400" dirty="0"/>
              <a:t>One of the essential aspect of Indian Constitution</a:t>
            </a:r>
          </a:p>
          <a:p>
            <a:pPr marL="800100" lvl="1" indent="-342900">
              <a:buFont typeface="Arial" panose="020B0604020202020204" pitchFamily="34" charset="0"/>
              <a:buChar char="•"/>
            </a:pPr>
            <a:r>
              <a:rPr lang="en-US" sz="2400" dirty="0"/>
              <a:t>Specific mention in the Preamble  </a:t>
            </a:r>
          </a:p>
        </p:txBody>
      </p:sp>
      <p:pic>
        <p:nvPicPr>
          <p:cNvPr id="2" name="Picture 1">
            <a:extLst>
              <a:ext uri="{FF2B5EF4-FFF2-40B4-BE49-F238E27FC236}">
                <a16:creationId xmlns:a16="http://schemas.microsoft.com/office/drawing/2014/main" id="{5A7ADE95-F065-ACC8-4646-C11EB3EF9F3E}"/>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38943437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Doctrine of Equality: Article 14 </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pic>
        <p:nvPicPr>
          <p:cNvPr id="7" name="Content Placeholder 4">
            <a:extLst>
              <a:ext uri="{FF2B5EF4-FFF2-40B4-BE49-F238E27FC236}">
                <a16:creationId xmlns:a16="http://schemas.microsoft.com/office/drawing/2014/main" id="{A95899B0-20D2-45BD-B6EB-AC198F5E7312}"/>
              </a:ext>
            </a:extLst>
          </p:cNvPr>
          <p:cNvPicPr>
            <a:picLocks noGrp="1" noChangeAspect="1"/>
          </p:cNvPicPr>
          <p:nvPr>
            <p:ph idx="1"/>
          </p:nvPr>
        </p:nvPicPr>
        <p:blipFill>
          <a:blip r:embed="rId2"/>
          <a:stretch>
            <a:fillRect/>
          </a:stretch>
        </p:blipFill>
        <p:spPr>
          <a:xfrm>
            <a:off x="393111" y="1513221"/>
            <a:ext cx="5346655" cy="5029636"/>
          </a:xfrm>
        </p:spPr>
      </p:pic>
      <p:pic>
        <p:nvPicPr>
          <p:cNvPr id="2" name="Picture 1">
            <a:extLst>
              <a:ext uri="{FF2B5EF4-FFF2-40B4-BE49-F238E27FC236}">
                <a16:creationId xmlns:a16="http://schemas.microsoft.com/office/drawing/2014/main" id="{A59167E4-A953-3586-DA21-3CB00901DADF}"/>
              </a:ext>
            </a:extLst>
          </p:cNvPr>
          <p:cNvPicPr>
            <a:picLocks noChangeAspect="1"/>
          </p:cNvPicPr>
          <p:nvPr/>
        </p:nvPicPr>
        <p:blipFill rotWithShape="1">
          <a:blip r:embed="rId3"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668907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Doctrine of Equality: Article 14 </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rgbClr val="0070C0"/>
                </a:solidFill>
              </a:rPr>
              <a:t>Right to Equality </a:t>
            </a:r>
          </a:p>
          <a:p>
            <a:pPr marL="800100" lvl="1" indent="-342900">
              <a:buFont typeface="Arial" panose="020B0604020202020204" pitchFamily="34" charset="0"/>
              <a:buChar char="•"/>
            </a:pPr>
            <a:r>
              <a:rPr lang="en-US" sz="2400" dirty="0"/>
              <a:t>Article 14</a:t>
            </a:r>
          </a:p>
          <a:p>
            <a:pPr marL="164592" indent="0" algn="just">
              <a:spcBef>
                <a:spcPts val="0"/>
              </a:spcBef>
              <a:buNone/>
            </a:pPr>
            <a:r>
              <a:rPr lang="en-US" sz="2400" dirty="0">
                <a:effectLst/>
                <a:ea typeface="Calibri" panose="020F0502020204030204" pitchFamily="34" charset="0"/>
                <a:cs typeface="Times New Roman" panose="02020603050405020304" pitchFamily="18" charset="0"/>
              </a:rPr>
              <a:t>Equality before law </a:t>
            </a:r>
          </a:p>
          <a:p>
            <a:pPr marL="164592" indent="0" algn="just">
              <a:spcBef>
                <a:spcPts val="0"/>
              </a:spcBef>
              <a:buNone/>
            </a:pPr>
            <a:r>
              <a:rPr lang="en-US" sz="2400" u="sng" dirty="0">
                <a:effectLst/>
                <a:ea typeface="Calibri" panose="020F0502020204030204" pitchFamily="34" charset="0"/>
                <a:cs typeface="Times New Roman" panose="02020603050405020304" pitchFamily="18" charset="0"/>
              </a:rPr>
              <a:t>The State</a:t>
            </a:r>
            <a:r>
              <a:rPr lang="en-US" sz="2400" dirty="0">
                <a:effectLst/>
                <a:ea typeface="Calibri" panose="020F0502020204030204" pitchFamily="34" charset="0"/>
                <a:cs typeface="Times New Roman" panose="02020603050405020304" pitchFamily="18" charset="0"/>
              </a:rPr>
              <a:t> shall not deny to </a:t>
            </a:r>
            <a:r>
              <a:rPr lang="en-US" sz="2400" u="sng" dirty="0">
                <a:solidFill>
                  <a:srgbClr val="FF0000"/>
                </a:solidFill>
                <a:effectLst/>
                <a:ea typeface="Calibri" panose="020F0502020204030204" pitchFamily="34" charset="0"/>
                <a:cs typeface="Times New Roman" panose="02020603050405020304" pitchFamily="18" charset="0"/>
              </a:rPr>
              <a:t>any person</a:t>
            </a:r>
            <a:r>
              <a:rPr lang="en-US" sz="2400" dirty="0">
                <a:solidFill>
                  <a:srgbClr val="FF0000"/>
                </a:solidFill>
                <a:effectLst/>
                <a:ea typeface="Calibri" panose="020F0502020204030204" pitchFamily="34" charset="0"/>
                <a:cs typeface="Times New Roman" panose="02020603050405020304" pitchFamily="18" charset="0"/>
              </a:rPr>
              <a:t> </a:t>
            </a:r>
            <a:r>
              <a:rPr lang="en-US" sz="2400" u="sng" dirty="0">
                <a:effectLst/>
                <a:ea typeface="Calibri" panose="020F0502020204030204" pitchFamily="34" charset="0"/>
                <a:cs typeface="Times New Roman" panose="02020603050405020304" pitchFamily="18" charset="0"/>
              </a:rPr>
              <a:t>equality before the law</a:t>
            </a:r>
            <a:r>
              <a:rPr lang="en-US" sz="2400" dirty="0">
                <a:effectLst/>
                <a:ea typeface="Calibri" panose="020F0502020204030204" pitchFamily="34" charset="0"/>
                <a:cs typeface="Times New Roman" panose="02020603050405020304" pitchFamily="18" charset="0"/>
              </a:rPr>
              <a:t> or the </a:t>
            </a:r>
            <a:r>
              <a:rPr lang="en-US" sz="2400" u="sng" dirty="0">
                <a:effectLst/>
                <a:ea typeface="Calibri" panose="020F0502020204030204" pitchFamily="34" charset="0"/>
                <a:cs typeface="Times New Roman" panose="02020603050405020304" pitchFamily="18" charset="0"/>
              </a:rPr>
              <a:t>equal protection of the laws</a:t>
            </a:r>
            <a:r>
              <a:rPr lang="en-US" sz="2400" dirty="0">
                <a:effectLst/>
                <a:ea typeface="Calibri" panose="020F0502020204030204" pitchFamily="34" charset="0"/>
                <a:cs typeface="Times New Roman" panose="02020603050405020304" pitchFamily="18" charset="0"/>
              </a:rPr>
              <a:t> within the </a:t>
            </a:r>
            <a:r>
              <a:rPr lang="en-US" sz="2400" u="sng" dirty="0">
                <a:effectLst/>
                <a:ea typeface="Calibri" panose="020F0502020204030204" pitchFamily="34" charset="0"/>
                <a:cs typeface="Times New Roman" panose="02020603050405020304" pitchFamily="18" charset="0"/>
              </a:rPr>
              <a:t>territory of India</a:t>
            </a:r>
          </a:p>
          <a:p>
            <a:pPr marL="164592" indent="0" algn="just">
              <a:spcBef>
                <a:spcPts val="0"/>
              </a:spcBef>
              <a:buNone/>
            </a:pPr>
            <a:endParaRPr lang="en-US" sz="2400" u="sng" dirty="0">
              <a:ea typeface="Calibri" panose="020F0502020204030204" pitchFamily="34" charset="0"/>
              <a:cs typeface="Times New Roman" panose="02020603050405020304" pitchFamily="18" charset="0"/>
            </a:endParaRPr>
          </a:p>
          <a:p>
            <a:pPr marL="507492" indent="-342900" algn="just">
              <a:spcBef>
                <a:spcPts val="0"/>
              </a:spcBef>
              <a:buFont typeface="Arial" panose="020B0604020202020204" pitchFamily="34" charset="0"/>
              <a:buChar char="•"/>
            </a:pPr>
            <a:r>
              <a:rPr lang="en-US" sz="2400" dirty="0">
                <a:effectLst/>
                <a:ea typeface="Calibri" panose="020F0502020204030204" pitchFamily="34" charset="0"/>
                <a:cs typeface="Times New Roman" panose="02020603050405020304" pitchFamily="18" charset="0"/>
              </a:rPr>
              <a:t>Any person</a:t>
            </a:r>
          </a:p>
          <a:p>
            <a:pPr marL="800100" lvl="1" indent="-342900">
              <a:buFont typeface="Arial" panose="020B0604020202020204" pitchFamily="34" charset="0"/>
              <a:buChar char="•"/>
            </a:pPr>
            <a:endParaRPr lang="en-US" sz="2400" dirty="0"/>
          </a:p>
        </p:txBody>
      </p:sp>
      <p:pic>
        <p:nvPicPr>
          <p:cNvPr id="2" name="Picture 1">
            <a:extLst>
              <a:ext uri="{FF2B5EF4-FFF2-40B4-BE49-F238E27FC236}">
                <a16:creationId xmlns:a16="http://schemas.microsoft.com/office/drawing/2014/main" id="{607F9127-B5DD-BBEE-1269-3F1D75B0EA00}"/>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2415317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Doctrine of Equality: Article 14 </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Article 14 embodies two principles </a:t>
            </a:r>
          </a:p>
          <a:p>
            <a:pPr marL="800100" lvl="1" indent="-342900">
              <a:buFont typeface="Arial" panose="020B0604020202020204" pitchFamily="34" charset="0"/>
              <a:buChar char="•"/>
            </a:pPr>
            <a:r>
              <a:rPr lang="en-US" sz="2400" dirty="0"/>
              <a:t>Equality before law</a:t>
            </a:r>
          </a:p>
          <a:p>
            <a:pPr marL="1257300" lvl="2" indent="-342900">
              <a:buFont typeface="Arial" panose="020B0604020202020204" pitchFamily="34" charset="0"/>
              <a:buChar char="•"/>
            </a:pPr>
            <a:r>
              <a:rPr lang="en-US" sz="2400" dirty="0"/>
              <a:t>British Concept </a:t>
            </a:r>
          </a:p>
          <a:p>
            <a:pPr marL="1257300" lvl="2" indent="-342900">
              <a:buFont typeface="Arial" panose="020B0604020202020204" pitchFamily="34" charset="0"/>
              <a:buChar char="•"/>
            </a:pPr>
            <a:r>
              <a:rPr lang="en-US" sz="2400" dirty="0"/>
              <a:t>Negative concept – not to be discriminated- forbids </a:t>
            </a:r>
          </a:p>
          <a:p>
            <a:pPr marL="1257300" lvl="2" indent="-342900">
              <a:buFont typeface="Arial" panose="020B0604020202020204" pitchFamily="34" charset="0"/>
              <a:buChar char="•"/>
            </a:pPr>
            <a:r>
              <a:rPr lang="en-US" sz="2400" dirty="0"/>
              <a:t>Rule of Law </a:t>
            </a:r>
          </a:p>
          <a:p>
            <a:pPr marL="800100" lvl="1" indent="-342900">
              <a:buFont typeface="Arial" panose="020B0604020202020204" pitchFamily="34" charset="0"/>
              <a:buChar char="•"/>
            </a:pPr>
            <a:r>
              <a:rPr lang="en-US" sz="2400" dirty="0"/>
              <a:t>Equal Protection of Law </a:t>
            </a:r>
          </a:p>
          <a:p>
            <a:pPr marL="1257300" lvl="2" indent="-342900">
              <a:buFont typeface="Arial" panose="020B0604020202020204" pitchFamily="34" charset="0"/>
              <a:buChar char="•"/>
            </a:pPr>
            <a:r>
              <a:rPr lang="en-US" sz="2400" dirty="0"/>
              <a:t>US Concept </a:t>
            </a:r>
          </a:p>
          <a:p>
            <a:pPr marL="1257300" lvl="2" indent="-342900">
              <a:buFont typeface="Arial" panose="020B0604020202020204" pitchFamily="34" charset="0"/>
              <a:buChar char="•"/>
            </a:pPr>
            <a:r>
              <a:rPr lang="en-US" sz="2400" dirty="0"/>
              <a:t>Positive concept – Provide something</a:t>
            </a:r>
          </a:p>
          <a:p>
            <a:pPr marL="1257300" lvl="2" indent="-342900">
              <a:buFont typeface="Arial" panose="020B0604020202020204" pitchFamily="34" charset="0"/>
              <a:buChar char="•"/>
            </a:pPr>
            <a:r>
              <a:rPr lang="en-US" sz="2400" dirty="0"/>
              <a:t>Not absolute equality</a:t>
            </a:r>
          </a:p>
          <a:p>
            <a:pPr marL="1257300" lvl="2" indent="-342900">
              <a:buFont typeface="Arial" panose="020B0604020202020204" pitchFamily="34" charset="0"/>
              <a:buChar char="•"/>
            </a:pPr>
            <a:r>
              <a:rPr lang="en-US" sz="2400" dirty="0"/>
              <a:t>Equals to be treated equally and </a:t>
            </a:r>
            <a:r>
              <a:rPr lang="en-US" sz="2400" dirty="0" err="1"/>
              <a:t>unequals</a:t>
            </a:r>
            <a:r>
              <a:rPr lang="en-US" sz="2400" dirty="0"/>
              <a:t> should not be treated equally  </a:t>
            </a:r>
          </a:p>
        </p:txBody>
      </p:sp>
      <p:pic>
        <p:nvPicPr>
          <p:cNvPr id="2" name="Picture 1">
            <a:extLst>
              <a:ext uri="{FF2B5EF4-FFF2-40B4-BE49-F238E27FC236}">
                <a16:creationId xmlns:a16="http://schemas.microsoft.com/office/drawing/2014/main" id="{2B92186E-BC08-AD4B-57F8-A38EB29F72E0}"/>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3758868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Doctrine of Equality: Article 14 </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t>Equal Protection of Laws </a:t>
            </a:r>
          </a:p>
          <a:p>
            <a:pPr marL="800100" lvl="1" indent="-342900">
              <a:buFont typeface="Arial" panose="020B0604020202020204" pitchFamily="34" charset="0"/>
              <a:buChar char="•"/>
            </a:pPr>
            <a:r>
              <a:rPr lang="en-US" sz="2400" dirty="0"/>
              <a:t>Article 14 forbids class legislation, it does not forbids reasonable classification for the purpose of legislation.</a:t>
            </a:r>
          </a:p>
          <a:p>
            <a:pPr marL="800100" lvl="1" indent="-342900">
              <a:buFont typeface="Arial" panose="020B0604020202020204" pitchFamily="34" charset="0"/>
              <a:buChar char="•"/>
            </a:pPr>
            <a:r>
              <a:rPr lang="en-US" sz="2400" dirty="0"/>
              <a:t>Reasonable Classification</a:t>
            </a:r>
          </a:p>
        </p:txBody>
      </p:sp>
      <p:pic>
        <p:nvPicPr>
          <p:cNvPr id="2" name="Picture 1">
            <a:extLst>
              <a:ext uri="{FF2B5EF4-FFF2-40B4-BE49-F238E27FC236}">
                <a16:creationId xmlns:a16="http://schemas.microsoft.com/office/drawing/2014/main" id="{F633B3EC-F92F-0D2B-6425-101E062B8562}"/>
              </a:ext>
            </a:extLst>
          </p:cNvPr>
          <p:cNvPicPr>
            <a:picLocks noChangeAspect="1"/>
          </p:cNvPicPr>
          <p:nvPr/>
        </p:nvPicPr>
        <p:blipFill rotWithShape="1">
          <a:blip r:embed="rId2" cstate="print"/>
          <a:srcRect l="32065" t="18449" r="31457" b="20615"/>
          <a:stretch/>
        </p:blipFill>
        <p:spPr>
          <a:xfrm>
            <a:off x="11078817" y="48933"/>
            <a:ext cx="1069984" cy="1787417"/>
          </a:xfrm>
          <a:prstGeom prst="rect">
            <a:avLst/>
          </a:prstGeom>
        </p:spPr>
      </p:pic>
    </p:spTree>
    <p:extLst>
      <p:ext uri="{BB962C8B-B14F-4D97-AF65-F5344CB8AC3E}">
        <p14:creationId xmlns:p14="http://schemas.microsoft.com/office/powerpoint/2010/main" val="3899118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Doctrine of Equality: Article 14 </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3416320"/>
          </a:xfrm>
          <a:prstGeom prst="rect">
            <a:avLst/>
          </a:prstGeom>
          <a:noFill/>
        </p:spPr>
        <p:txBody>
          <a:bodyPr wrap="square" rtlCol="0">
            <a:spAutoFit/>
          </a:bodyPr>
          <a:lstStyle/>
          <a:p>
            <a:pPr marL="342900" indent="-342900">
              <a:buFont typeface="Arial" panose="020B0604020202020204" pitchFamily="34" charset="0"/>
              <a:buChar char="•"/>
            </a:pPr>
            <a:r>
              <a:rPr lang="en-US" sz="2400" dirty="0"/>
              <a:t>Test for Reasonable Classification </a:t>
            </a:r>
          </a:p>
          <a:p>
            <a:pPr marL="342900" indent="-342900">
              <a:buFont typeface="Arial" panose="020B0604020202020204" pitchFamily="34" charset="0"/>
              <a:buChar char="•"/>
            </a:pPr>
            <a:r>
              <a:rPr lang="en-US" sz="2400" dirty="0">
                <a:solidFill>
                  <a:srgbClr val="FF0000"/>
                </a:solidFill>
              </a:rPr>
              <a:t>Intelligible Differentia</a:t>
            </a:r>
          </a:p>
          <a:p>
            <a:pPr marL="800100" lvl="1" indent="-342900">
              <a:buFont typeface="Arial" panose="020B0604020202020204" pitchFamily="34" charset="0"/>
              <a:buChar char="•"/>
            </a:pPr>
            <a:r>
              <a:rPr lang="en-US" sz="2400" dirty="0"/>
              <a:t>Shall not be arbitrary, artificial or evasive</a:t>
            </a:r>
          </a:p>
          <a:p>
            <a:pPr marL="800100" lvl="1" indent="-342900">
              <a:buFont typeface="Arial" panose="020B0604020202020204" pitchFamily="34" charset="0"/>
              <a:buChar char="•"/>
            </a:pPr>
            <a:r>
              <a:rPr lang="en-US" sz="2400" dirty="0"/>
              <a:t>Real and substantial distinction </a:t>
            </a:r>
          </a:p>
          <a:p>
            <a:pPr marL="342900" indent="-342900">
              <a:buFont typeface="Arial" panose="020B0604020202020204" pitchFamily="34" charset="0"/>
              <a:buChar char="•"/>
            </a:pPr>
            <a:r>
              <a:rPr lang="en-US" sz="2400" dirty="0">
                <a:solidFill>
                  <a:srgbClr val="FF0000"/>
                </a:solidFill>
              </a:rPr>
              <a:t>Reasonable Nexus</a:t>
            </a:r>
            <a:r>
              <a:rPr lang="en-US" sz="2400" dirty="0"/>
              <a:t> between Intelligible Differentia and objective sought to be achieved by the Act.</a:t>
            </a:r>
          </a:p>
          <a:p>
            <a:pPr marL="800100" lvl="1" indent="-342900">
              <a:buFont typeface="Arial" panose="020B0604020202020204" pitchFamily="34" charset="0"/>
              <a:buChar char="•"/>
            </a:pPr>
            <a:r>
              <a:rPr lang="en-US" sz="2400" dirty="0" err="1"/>
              <a:t>Eg</a:t>
            </a:r>
            <a:r>
              <a:rPr lang="en-US" sz="2400" dirty="0"/>
              <a:t>: Sec 11 of Indian Contract Act</a:t>
            </a:r>
          </a:p>
          <a:p>
            <a:pPr marL="342900" indent="-342900">
              <a:buFont typeface="Arial" panose="020B0604020202020204" pitchFamily="34" charset="0"/>
              <a:buChar char="•"/>
            </a:pPr>
            <a:r>
              <a:rPr lang="en-US" sz="2400" dirty="0">
                <a:solidFill>
                  <a:srgbClr val="FF0000"/>
                </a:solidFill>
              </a:rPr>
              <a:t>Object should be lawful</a:t>
            </a:r>
          </a:p>
          <a:p>
            <a:pPr lvl="1"/>
            <a:endParaRPr lang="en-US" sz="2400" dirty="0"/>
          </a:p>
        </p:txBody>
      </p:sp>
      <p:pic>
        <p:nvPicPr>
          <p:cNvPr id="2" name="Picture 1">
            <a:extLst>
              <a:ext uri="{FF2B5EF4-FFF2-40B4-BE49-F238E27FC236}">
                <a16:creationId xmlns:a16="http://schemas.microsoft.com/office/drawing/2014/main" id="{AF6316EF-1CA2-632E-F443-CA882FB34A1D}"/>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21184910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Article 15-16 and the finer dimensions of equality</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1569660"/>
          </a:xfrm>
          <a:prstGeom prst="rect">
            <a:avLst/>
          </a:prstGeom>
          <a:noFill/>
        </p:spPr>
        <p:txBody>
          <a:bodyPr wrap="square" rtlCol="0">
            <a:spAutoFit/>
          </a:bodyPr>
          <a:lstStyle/>
          <a:p>
            <a:pPr marL="342900" indent="-342900">
              <a:buFont typeface="Arial" panose="020B0604020202020204" pitchFamily="34" charset="0"/>
              <a:buChar char="•"/>
            </a:pPr>
            <a:r>
              <a:rPr lang="en-US" sz="2400" dirty="0"/>
              <a:t>Article 15 &amp; 16 provides for finer dimension of equality </a:t>
            </a:r>
          </a:p>
          <a:p>
            <a:pPr marL="342900" indent="-342900">
              <a:buFont typeface="Arial" panose="020B0604020202020204" pitchFamily="34" charset="0"/>
              <a:buChar char="•"/>
            </a:pPr>
            <a:r>
              <a:rPr lang="en-US" sz="2400" dirty="0"/>
              <a:t>Article 15 prohibits discrimination </a:t>
            </a:r>
          </a:p>
          <a:p>
            <a:pPr marL="342900" indent="-342900">
              <a:buFont typeface="Arial" panose="020B0604020202020204" pitchFamily="34" charset="0"/>
              <a:buChar char="•"/>
            </a:pPr>
            <a:r>
              <a:rPr lang="en-US" sz="2400" dirty="0"/>
              <a:t>Article 16 prohibits discrimination in public employment </a:t>
            </a:r>
          </a:p>
          <a:p>
            <a:pPr marL="342900" indent="-342900">
              <a:buFont typeface="Arial" panose="020B0604020202020204" pitchFamily="34" charset="0"/>
              <a:buChar char="•"/>
            </a:pPr>
            <a:r>
              <a:rPr lang="en-US" sz="2400" dirty="0"/>
              <a:t>Article 15 and 16 applicable only to citizens </a:t>
            </a:r>
          </a:p>
        </p:txBody>
      </p:sp>
      <p:pic>
        <p:nvPicPr>
          <p:cNvPr id="2" name="Picture 1">
            <a:extLst>
              <a:ext uri="{FF2B5EF4-FFF2-40B4-BE49-F238E27FC236}">
                <a16:creationId xmlns:a16="http://schemas.microsoft.com/office/drawing/2014/main" id="{E69BCC7D-4522-2EFF-E4CE-15AF8AC5818E}"/>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15760542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Article 15-16 and the finer dimensions of equality</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1569660"/>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Art. 15(1) </a:t>
            </a:r>
            <a:r>
              <a:rPr lang="en-US" sz="2400" u="sng" dirty="0"/>
              <a:t>The State </a:t>
            </a:r>
            <a:r>
              <a:rPr lang="en-US" sz="2400" dirty="0"/>
              <a:t>shall </a:t>
            </a:r>
            <a:r>
              <a:rPr lang="en-US" sz="2400" u="sng" dirty="0"/>
              <a:t>not discriminate against </a:t>
            </a:r>
            <a:r>
              <a:rPr lang="en-US" sz="2400" dirty="0"/>
              <a:t>any </a:t>
            </a:r>
            <a:r>
              <a:rPr lang="en-US" sz="2400" u="sng" dirty="0"/>
              <a:t>citizen</a:t>
            </a:r>
            <a:r>
              <a:rPr lang="en-US" sz="2400" dirty="0"/>
              <a:t> on </a:t>
            </a:r>
            <a:r>
              <a:rPr lang="en-US" sz="2400" u="sng" dirty="0"/>
              <a:t>grounds </a:t>
            </a:r>
            <a:r>
              <a:rPr lang="en-US" sz="2400" u="sng" dirty="0">
                <a:solidFill>
                  <a:srgbClr val="FF0000"/>
                </a:solidFill>
              </a:rPr>
              <a:t>only</a:t>
            </a:r>
            <a:r>
              <a:rPr lang="en-US" sz="2400" u="sng" dirty="0"/>
              <a:t> </a:t>
            </a:r>
            <a:r>
              <a:rPr lang="en-US" sz="2400" dirty="0"/>
              <a:t>of </a:t>
            </a:r>
            <a:r>
              <a:rPr lang="en-US" sz="2400" u="sng" dirty="0"/>
              <a:t>religion, race, caste, sex, place of birth</a:t>
            </a:r>
            <a:r>
              <a:rPr lang="en-US" sz="2400" dirty="0"/>
              <a:t> or </a:t>
            </a:r>
            <a:r>
              <a:rPr lang="en-US" sz="2400" u="sng" dirty="0"/>
              <a:t>any of them.</a:t>
            </a:r>
          </a:p>
          <a:p>
            <a:pPr marL="342900" indent="-342900" algn="just"/>
            <a:endParaRPr lang="en-US" sz="2400" u="sng" dirty="0">
              <a:solidFill>
                <a:srgbClr val="FF0000"/>
              </a:solidFill>
            </a:endParaRPr>
          </a:p>
        </p:txBody>
      </p:sp>
      <p:pic>
        <p:nvPicPr>
          <p:cNvPr id="2" name="Picture 1">
            <a:extLst>
              <a:ext uri="{FF2B5EF4-FFF2-40B4-BE49-F238E27FC236}">
                <a16:creationId xmlns:a16="http://schemas.microsoft.com/office/drawing/2014/main" id="{A07A664D-FEB4-39C3-C78D-62EEE58EE766}"/>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13581918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Article 15-16 and the finer dimensions of equality</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4278094"/>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Art. 15 (2)  </a:t>
            </a:r>
            <a:r>
              <a:rPr lang="en-US" sz="2400" i="0" dirty="0">
                <a:effectLst/>
                <a:latin typeface="charter-regular"/>
              </a:rPr>
              <a:t>No citizen shall, on grounds </a:t>
            </a:r>
            <a:r>
              <a:rPr lang="en-US" sz="2400" i="0" dirty="0">
                <a:solidFill>
                  <a:srgbClr val="FF0000"/>
                </a:solidFill>
                <a:effectLst/>
                <a:latin typeface="charter-regular"/>
              </a:rPr>
              <a:t>only of </a:t>
            </a:r>
            <a:r>
              <a:rPr lang="en-US" sz="2400" i="0" dirty="0">
                <a:effectLst/>
                <a:latin typeface="charter-regular"/>
              </a:rPr>
              <a:t>religion, race, caste, sex, place of birth or any of them, be subject to any </a:t>
            </a:r>
            <a:r>
              <a:rPr lang="en-US" sz="2400" i="0" dirty="0">
                <a:solidFill>
                  <a:srgbClr val="FF0000"/>
                </a:solidFill>
                <a:effectLst/>
                <a:latin typeface="charter-regular"/>
              </a:rPr>
              <a:t>disability, liability, restriction or condition</a:t>
            </a:r>
            <a:r>
              <a:rPr lang="en-US" sz="2400" i="0" dirty="0">
                <a:solidFill>
                  <a:srgbClr val="4C4C4C"/>
                </a:solidFill>
                <a:effectLst/>
                <a:latin typeface="charter-regular"/>
              </a:rPr>
              <a:t> </a:t>
            </a:r>
            <a:r>
              <a:rPr lang="en-US" sz="2400" i="0" dirty="0">
                <a:effectLst/>
                <a:latin typeface="charter-regular"/>
              </a:rPr>
              <a:t>with regard to—</a:t>
            </a:r>
          </a:p>
          <a:p>
            <a:pPr marL="914400" lvl="1" indent="-457200" algn="just">
              <a:buAutoNum type="alphaLcPeriod"/>
            </a:pPr>
            <a:r>
              <a:rPr lang="en-US" sz="2400" i="0" dirty="0">
                <a:effectLst/>
                <a:latin typeface="charter-regular"/>
              </a:rPr>
              <a:t>access to shops, public restaurants, hotels and places of public entertainment; or</a:t>
            </a:r>
          </a:p>
          <a:p>
            <a:pPr marL="914400" lvl="1" indent="-457200" algn="just">
              <a:buAutoNum type="alphaLcPeriod"/>
            </a:pPr>
            <a:r>
              <a:rPr lang="en-US" sz="2400" i="0" dirty="0">
                <a:effectLst/>
                <a:latin typeface="charter-regular"/>
              </a:rPr>
              <a:t>the use of wells, tanks, bathing ghats, roads and places of public resort maintained</a:t>
            </a:r>
            <a:r>
              <a:rPr lang="en-US" sz="2400" i="0" dirty="0">
                <a:solidFill>
                  <a:srgbClr val="4C4C4C"/>
                </a:solidFill>
                <a:effectLst/>
                <a:latin typeface="charter-regular"/>
              </a:rPr>
              <a:t> </a:t>
            </a:r>
            <a:r>
              <a:rPr lang="en-US" sz="2400" i="0" dirty="0">
                <a:solidFill>
                  <a:srgbClr val="FF0000"/>
                </a:solidFill>
                <a:effectLst/>
                <a:latin typeface="charter-regular"/>
              </a:rPr>
              <a:t>wholly or partly out of State funds</a:t>
            </a:r>
            <a:r>
              <a:rPr lang="en-US" sz="2400" i="0" dirty="0">
                <a:solidFill>
                  <a:srgbClr val="4C4C4C"/>
                </a:solidFill>
                <a:effectLst/>
                <a:latin typeface="charter-regular"/>
              </a:rPr>
              <a:t> </a:t>
            </a:r>
            <a:r>
              <a:rPr lang="en-US" sz="3200" i="0" dirty="0">
                <a:solidFill>
                  <a:srgbClr val="92D050"/>
                </a:solidFill>
                <a:effectLst/>
                <a:latin typeface="charter-regular"/>
              </a:rPr>
              <a:t>or</a:t>
            </a:r>
            <a:r>
              <a:rPr lang="en-US" sz="2400" i="0" dirty="0">
                <a:solidFill>
                  <a:srgbClr val="4C4C4C"/>
                </a:solidFill>
                <a:effectLst/>
                <a:latin typeface="charter-regular"/>
              </a:rPr>
              <a:t> </a:t>
            </a:r>
            <a:r>
              <a:rPr lang="en-US" sz="2400" i="0" dirty="0">
                <a:solidFill>
                  <a:srgbClr val="FF0000"/>
                </a:solidFill>
                <a:effectLst/>
                <a:latin typeface="charter-regular"/>
              </a:rPr>
              <a:t>dedicated to the use of the general public.</a:t>
            </a:r>
          </a:p>
          <a:p>
            <a:pPr marL="342900" indent="-342900" algn="just">
              <a:buFont typeface="Arial" panose="020B0604020202020204" pitchFamily="34" charset="0"/>
              <a:buChar char="•"/>
            </a:pPr>
            <a:endParaRPr lang="en-US" sz="2400" dirty="0"/>
          </a:p>
        </p:txBody>
      </p:sp>
      <p:pic>
        <p:nvPicPr>
          <p:cNvPr id="2" name="Picture 1">
            <a:extLst>
              <a:ext uri="{FF2B5EF4-FFF2-40B4-BE49-F238E27FC236}">
                <a16:creationId xmlns:a16="http://schemas.microsoft.com/office/drawing/2014/main" id="{B584395F-D3C7-F890-3DA6-FBD7065EEBB7}"/>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372457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Article 15-16 and the finer dimensions of equality</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2677656"/>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Art. 15 (3) </a:t>
            </a:r>
          </a:p>
          <a:p>
            <a:pPr marL="342900" indent="-342900" algn="just">
              <a:buFont typeface="Arial" panose="020B0604020202020204" pitchFamily="34" charset="0"/>
              <a:buChar char="•"/>
            </a:pPr>
            <a:r>
              <a:rPr lang="en-US" sz="2400" u="sng" dirty="0"/>
              <a:t>Nothing in this article</a:t>
            </a:r>
            <a:r>
              <a:rPr lang="en-US" sz="2400" dirty="0"/>
              <a:t> shall prevent the State from </a:t>
            </a:r>
            <a:r>
              <a:rPr lang="en-US" sz="2400" u="sng" dirty="0"/>
              <a:t>making any special provision for women and children.</a:t>
            </a:r>
          </a:p>
          <a:p>
            <a:pPr marL="342900" indent="-342900" algn="just">
              <a:buFont typeface="Arial" panose="020B0604020202020204" pitchFamily="34" charset="0"/>
              <a:buChar char="•"/>
            </a:pPr>
            <a:endParaRPr lang="en-US" sz="2400" u="sng" dirty="0"/>
          </a:p>
          <a:p>
            <a:pPr marL="1257300" lvl="2" indent="-342900" algn="just">
              <a:buFont typeface="Arial" panose="020B0604020202020204" pitchFamily="34" charset="0"/>
              <a:buChar char="•"/>
            </a:pPr>
            <a:r>
              <a:rPr lang="en-US" sz="2400" dirty="0"/>
              <a:t>Reservation of jobs for women in state employment is permissible even in the absence of special provision under Art. 16</a:t>
            </a:r>
          </a:p>
        </p:txBody>
      </p:sp>
      <p:pic>
        <p:nvPicPr>
          <p:cNvPr id="2" name="Picture 1">
            <a:extLst>
              <a:ext uri="{FF2B5EF4-FFF2-40B4-BE49-F238E27FC236}">
                <a16:creationId xmlns:a16="http://schemas.microsoft.com/office/drawing/2014/main" id="{6778CB82-F152-0655-66D6-E38500DF5586}"/>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4167165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Article 15-16 and the finer dimensions of equality</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4154984"/>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Art. 16</a:t>
            </a:r>
          </a:p>
          <a:p>
            <a:pPr marL="457200" indent="-457200" algn="just">
              <a:buAutoNum type="arabicParenBoth"/>
            </a:pPr>
            <a:r>
              <a:rPr lang="en-US" sz="2400" b="0" i="0" dirty="0">
                <a:effectLst/>
                <a:latin typeface="charter-regular"/>
              </a:rPr>
              <a:t>There shall be </a:t>
            </a:r>
            <a:r>
              <a:rPr lang="en-US" sz="2400" b="0" i="0" dirty="0">
                <a:solidFill>
                  <a:srgbClr val="FF0000"/>
                </a:solidFill>
                <a:effectLst/>
                <a:latin typeface="charter-regular"/>
              </a:rPr>
              <a:t>equality of opportunity</a:t>
            </a:r>
            <a:r>
              <a:rPr lang="en-US" sz="2400" b="0" i="0" dirty="0">
                <a:solidFill>
                  <a:srgbClr val="4C4C4C"/>
                </a:solidFill>
                <a:effectLst/>
                <a:latin typeface="charter-regular"/>
              </a:rPr>
              <a:t> </a:t>
            </a:r>
            <a:r>
              <a:rPr lang="en-US" sz="2400" b="0" i="0" dirty="0">
                <a:effectLst/>
                <a:latin typeface="charter-regular"/>
              </a:rPr>
              <a:t>for all </a:t>
            </a:r>
            <a:r>
              <a:rPr lang="en-US" sz="2400" b="0" i="0" dirty="0">
                <a:solidFill>
                  <a:srgbClr val="FF0000"/>
                </a:solidFill>
                <a:effectLst/>
                <a:latin typeface="charter-regular"/>
              </a:rPr>
              <a:t>citizens</a:t>
            </a:r>
            <a:r>
              <a:rPr lang="en-US" sz="2400" b="0" i="0" dirty="0">
                <a:solidFill>
                  <a:srgbClr val="4C4C4C"/>
                </a:solidFill>
                <a:effectLst/>
                <a:latin typeface="charter-regular"/>
              </a:rPr>
              <a:t> in </a:t>
            </a:r>
            <a:r>
              <a:rPr lang="en-US" sz="2400" b="0" i="0" dirty="0">
                <a:solidFill>
                  <a:srgbClr val="FF0000"/>
                </a:solidFill>
                <a:effectLst/>
                <a:latin typeface="charter-regular"/>
              </a:rPr>
              <a:t>matters</a:t>
            </a:r>
            <a:r>
              <a:rPr lang="en-US" sz="2400" b="0" i="0" dirty="0">
                <a:solidFill>
                  <a:srgbClr val="4C4C4C"/>
                </a:solidFill>
                <a:effectLst/>
                <a:latin typeface="charter-regular"/>
              </a:rPr>
              <a:t> </a:t>
            </a:r>
            <a:r>
              <a:rPr lang="en-US" sz="2400" b="0" i="0" dirty="0">
                <a:effectLst/>
                <a:latin typeface="charter-regular"/>
              </a:rPr>
              <a:t>relating to</a:t>
            </a:r>
            <a:r>
              <a:rPr lang="en-US" sz="2400" b="0" i="0" dirty="0">
                <a:solidFill>
                  <a:srgbClr val="4C4C4C"/>
                </a:solidFill>
                <a:effectLst/>
                <a:latin typeface="charter-regular"/>
              </a:rPr>
              <a:t> </a:t>
            </a:r>
            <a:r>
              <a:rPr lang="en-US" sz="2400" b="0" i="0" dirty="0">
                <a:solidFill>
                  <a:srgbClr val="FF0000"/>
                </a:solidFill>
                <a:effectLst/>
                <a:latin typeface="charter-regular"/>
              </a:rPr>
              <a:t>employment or appointment </a:t>
            </a:r>
            <a:r>
              <a:rPr lang="en-US" sz="2400" b="0" i="0" dirty="0">
                <a:effectLst/>
                <a:latin typeface="charter-regular"/>
              </a:rPr>
              <a:t>to any office</a:t>
            </a:r>
            <a:r>
              <a:rPr lang="en-US" sz="2400" b="0" i="0" dirty="0">
                <a:solidFill>
                  <a:srgbClr val="4C4C4C"/>
                </a:solidFill>
                <a:effectLst/>
                <a:latin typeface="charter-regular"/>
              </a:rPr>
              <a:t> </a:t>
            </a:r>
            <a:r>
              <a:rPr lang="en-US" sz="2400" b="0" i="0" dirty="0">
                <a:solidFill>
                  <a:srgbClr val="FF0000"/>
                </a:solidFill>
                <a:effectLst/>
                <a:latin typeface="charter-regular"/>
              </a:rPr>
              <a:t>under the State.</a:t>
            </a:r>
          </a:p>
          <a:p>
            <a:pPr algn="just"/>
            <a:endParaRPr lang="en-US" sz="2400" b="0" i="0" dirty="0">
              <a:solidFill>
                <a:srgbClr val="FF0000"/>
              </a:solidFill>
              <a:effectLst/>
              <a:latin typeface="charter-regular"/>
            </a:endParaRPr>
          </a:p>
          <a:p>
            <a:pPr marL="342900" indent="-342900" algn="just">
              <a:buFont typeface="Arial" panose="020B0604020202020204" pitchFamily="34" charset="0"/>
              <a:buChar char="•"/>
            </a:pPr>
            <a:r>
              <a:rPr lang="en-US" sz="2400" dirty="0">
                <a:latin typeface="charter-regular"/>
              </a:rPr>
              <a:t>Equality of opportunity- right to be considered for employment or appointment</a:t>
            </a:r>
          </a:p>
          <a:p>
            <a:pPr marL="342900" indent="-342900" algn="just">
              <a:buFont typeface="Arial" panose="020B0604020202020204" pitchFamily="34" charset="0"/>
              <a:buChar char="•"/>
            </a:pPr>
            <a:r>
              <a:rPr lang="en-US" sz="2400" dirty="0">
                <a:latin typeface="charter-regular"/>
              </a:rPr>
              <a:t>No right to be employed or appointed</a:t>
            </a:r>
          </a:p>
          <a:p>
            <a:pPr marL="800100" lvl="1" indent="-342900" algn="just">
              <a:buFont typeface="Arial" panose="020B0604020202020204" pitchFamily="34" charset="0"/>
              <a:buChar char="•"/>
            </a:pPr>
            <a:r>
              <a:rPr lang="en-US" sz="2400" dirty="0">
                <a:latin typeface="charter-regular"/>
              </a:rPr>
              <a:t>Selection test?</a:t>
            </a:r>
          </a:p>
          <a:p>
            <a:pPr marL="800100" lvl="1" indent="-342900" algn="just">
              <a:buFont typeface="Arial" panose="020B0604020202020204" pitchFamily="34" charset="0"/>
              <a:buChar char="•"/>
            </a:pPr>
            <a:r>
              <a:rPr lang="en-US" sz="2400" dirty="0">
                <a:latin typeface="charter-regular"/>
              </a:rPr>
              <a:t>Rules of selection test</a:t>
            </a:r>
          </a:p>
          <a:p>
            <a:pPr marL="342900" indent="-342900" algn="just">
              <a:buFont typeface="Arial" panose="020B0604020202020204" pitchFamily="34" charset="0"/>
              <a:buChar char="•"/>
            </a:pPr>
            <a:r>
              <a:rPr lang="en-US" sz="2400" b="0" i="0" dirty="0">
                <a:effectLst/>
                <a:latin typeface="charter-regular"/>
              </a:rPr>
              <a:t>Citizens</a:t>
            </a:r>
          </a:p>
        </p:txBody>
      </p:sp>
      <p:pic>
        <p:nvPicPr>
          <p:cNvPr id="2" name="Picture 1">
            <a:extLst>
              <a:ext uri="{FF2B5EF4-FFF2-40B4-BE49-F238E27FC236}">
                <a16:creationId xmlns:a16="http://schemas.microsoft.com/office/drawing/2014/main" id="{CD0A4AC2-EEC4-98C5-5CFC-8C197F5D066E}"/>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1131918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Article 15-16 and the finer dimensions of equality</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2677656"/>
          </a:xfrm>
          <a:prstGeom prst="rect">
            <a:avLst/>
          </a:prstGeom>
          <a:noFill/>
        </p:spPr>
        <p:txBody>
          <a:bodyPr wrap="square" rtlCol="0">
            <a:spAutoFit/>
          </a:bodyPr>
          <a:lstStyle/>
          <a:p>
            <a:pPr marL="342900" indent="-342900" algn="just">
              <a:buFont typeface="Arial" panose="020B0604020202020204" pitchFamily="34" charset="0"/>
              <a:buChar char="•"/>
            </a:pPr>
            <a:r>
              <a:rPr lang="en-US" sz="2400" b="0" i="0" dirty="0">
                <a:effectLst/>
                <a:latin typeface="charter-regular"/>
              </a:rPr>
              <a:t>Matters relating to Employment or appointment</a:t>
            </a:r>
          </a:p>
          <a:p>
            <a:pPr marL="342900" indent="-342900" algn="just">
              <a:buFont typeface="Arial" panose="020B0604020202020204" pitchFamily="34" charset="0"/>
              <a:buChar char="•"/>
            </a:pPr>
            <a:r>
              <a:rPr lang="en-US" sz="2400" dirty="0">
                <a:solidFill>
                  <a:srgbClr val="FF0000"/>
                </a:solidFill>
                <a:latin typeface="charter-regular"/>
              </a:rPr>
              <a:t>Employment</a:t>
            </a:r>
          </a:p>
          <a:p>
            <a:pPr marL="800100" lvl="1" indent="-342900" algn="just">
              <a:buFont typeface="Arial" panose="020B0604020202020204" pitchFamily="34" charset="0"/>
              <a:buChar char="•"/>
            </a:pPr>
            <a:r>
              <a:rPr lang="en-US" sz="2400" b="0" i="0" dirty="0">
                <a:effectLst/>
                <a:latin typeface="charter-regular"/>
              </a:rPr>
              <a:t>Prior and subsequent</a:t>
            </a:r>
          </a:p>
          <a:p>
            <a:pPr marL="342900" indent="-342900" algn="just">
              <a:buFont typeface="Arial" panose="020B0604020202020204" pitchFamily="34" charset="0"/>
              <a:buChar char="•"/>
            </a:pPr>
            <a:r>
              <a:rPr lang="en-US" sz="2400" dirty="0">
                <a:solidFill>
                  <a:srgbClr val="FF0000"/>
                </a:solidFill>
                <a:latin typeface="charter-regular"/>
              </a:rPr>
              <a:t>Appointment</a:t>
            </a:r>
          </a:p>
          <a:p>
            <a:pPr marL="800100" lvl="1" indent="-342900" algn="just">
              <a:buFont typeface="Arial" panose="020B0604020202020204" pitchFamily="34" charset="0"/>
              <a:buChar char="•"/>
            </a:pPr>
            <a:r>
              <a:rPr lang="en-US" sz="2400" b="0" i="0" dirty="0">
                <a:effectLst/>
                <a:latin typeface="charter-regular"/>
              </a:rPr>
              <a:t>Termination, remova</a:t>
            </a:r>
            <a:r>
              <a:rPr lang="en-US" sz="2400" dirty="0">
                <a:latin typeface="charter-regular"/>
              </a:rPr>
              <a:t>l</a:t>
            </a:r>
            <a:endParaRPr lang="en-US" sz="2400" b="0" i="0" dirty="0">
              <a:effectLst/>
              <a:latin typeface="charter-regular"/>
            </a:endParaRPr>
          </a:p>
          <a:p>
            <a:pPr marL="342900" indent="-342900" algn="just">
              <a:buFont typeface="Arial" panose="020B0604020202020204" pitchFamily="34" charset="0"/>
              <a:buChar char="•"/>
            </a:pPr>
            <a:r>
              <a:rPr lang="en-US" sz="2400" b="0" i="0" dirty="0">
                <a:effectLst/>
                <a:latin typeface="charter-regular"/>
              </a:rPr>
              <a:t>Under  the State. </a:t>
            </a:r>
          </a:p>
          <a:p>
            <a:pPr marL="342900" indent="-342900" algn="just"/>
            <a:endParaRPr lang="en-US" sz="2400" dirty="0"/>
          </a:p>
        </p:txBody>
      </p:sp>
      <p:pic>
        <p:nvPicPr>
          <p:cNvPr id="2" name="Picture 1">
            <a:extLst>
              <a:ext uri="{FF2B5EF4-FFF2-40B4-BE49-F238E27FC236}">
                <a16:creationId xmlns:a16="http://schemas.microsoft.com/office/drawing/2014/main" id="{8443A813-DDE3-8324-6C09-F4DA061C130F}"/>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27725706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Article 15-16 and the finer dimensions of equality</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3785652"/>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Art. 16</a:t>
            </a:r>
          </a:p>
          <a:p>
            <a:pPr marL="457200" indent="-457200" algn="just">
              <a:buAutoNum type="arabicParenBoth" startAt="2"/>
            </a:pPr>
            <a:r>
              <a:rPr lang="en-US" sz="2400" b="0" i="0" dirty="0">
                <a:effectLst/>
                <a:latin typeface="charter-regular"/>
              </a:rPr>
              <a:t>No citizen shall, on grounds only of religion, race, caste, sex, </a:t>
            </a:r>
            <a:r>
              <a:rPr lang="en-US" sz="2400" b="0" i="0" dirty="0">
                <a:solidFill>
                  <a:srgbClr val="FF0000"/>
                </a:solidFill>
                <a:effectLst/>
                <a:latin typeface="charter-regular"/>
              </a:rPr>
              <a:t>descent</a:t>
            </a:r>
            <a:r>
              <a:rPr lang="en-US" sz="2400" b="0" i="0" dirty="0">
                <a:solidFill>
                  <a:srgbClr val="4C4C4C"/>
                </a:solidFill>
                <a:effectLst/>
                <a:latin typeface="charter-regular"/>
              </a:rPr>
              <a:t>, </a:t>
            </a:r>
            <a:r>
              <a:rPr lang="en-US" sz="2400" b="0" i="0" dirty="0">
                <a:effectLst/>
                <a:latin typeface="charter-regular"/>
              </a:rPr>
              <a:t>place of birth, </a:t>
            </a:r>
            <a:r>
              <a:rPr lang="en-US" sz="2400" b="0" i="0" dirty="0">
                <a:solidFill>
                  <a:srgbClr val="FF0000"/>
                </a:solidFill>
                <a:effectLst/>
                <a:latin typeface="charter-regular"/>
              </a:rPr>
              <a:t>residence </a:t>
            </a:r>
            <a:r>
              <a:rPr lang="en-US" sz="2400" b="0" i="0" dirty="0">
                <a:effectLst/>
                <a:latin typeface="charter-regular"/>
              </a:rPr>
              <a:t>or any of them, be ineligible for, or discriminated against in respect of, any employment or office</a:t>
            </a:r>
            <a:r>
              <a:rPr lang="en-US" sz="2400" b="0" i="0" dirty="0">
                <a:solidFill>
                  <a:srgbClr val="4C4C4C"/>
                </a:solidFill>
                <a:effectLst/>
                <a:latin typeface="charter-regular"/>
              </a:rPr>
              <a:t> </a:t>
            </a:r>
            <a:r>
              <a:rPr lang="en-US" sz="2400" b="0" i="0" dirty="0">
                <a:solidFill>
                  <a:srgbClr val="FF0000"/>
                </a:solidFill>
                <a:effectLst/>
                <a:latin typeface="charter-regular"/>
              </a:rPr>
              <a:t>under the State</a:t>
            </a:r>
            <a:r>
              <a:rPr lang="en-US" sz="2400" b="0" i="0" dirty="0">
                <a:solidFill>
                  <a:srgbClr val="4C4C4C"/>
                </a:solidFill>
                <a:effectLst/>
                <a:latin typeface="charter-regular"/>
              </a:rPr>
              <a:t>.</a:t>
            </a:r>
          </a:p>
          <a:p>
            <a:pPr marL="800100" lvl="1" indent="-342900" algn="just">
              <a:buFont typeface="Arial" panose="020B0604020202020204" pitchFamily="34" charset="0"/>
              <a:buChar char="•"/>
            </a:pPr>
            <a:r>
              <a:rPr lang="en-US" sz="2400" b="0" i="0" dirty="0">
                <a:effectLst/>
                <a:latin typeface="charter-regular"/>
              </a:rPr>
              <a:t>16 (1)  is wider</a:t>
            </a:r>
          </a:p>
          <a:p>
            <a:pPr marL="800100" lvl="1" indent="-342900" algn="just">
              <a:buFont typeface="Arial" panose="020B0604020202020204" pitchFamily="34" charset="0"/>
              <a:buChar char="•"/>
            </a:pPr>
            <a:r>
              <a:rPr lang="en-US" sz="2400" dirty="0">
                <a:latin typeface="charter-regular"/>
              </a:rPr>
              <a:t>No restriction on private persons</a:t>
            </a:r>
          </a:p>
          <a:p>
            <a:pPr marL="342900" indent="-342900" algn="just">
              <a:buFont typeface="Arial" panose="020B0604020202020204" pitchFamily="34" charset="0"/>
              <a:buChar char="•"/>
            </a:pPr>
            <a:r>
              <a:rPr lang="en-US" sz="2400" b="0" i="0" dirty="0" err="1">
                <a:effectLst/>
                <a:latin typeface="charter-regular"/>
              </a:rPr>
              <a:t>Gazula</a:t>
            </a:r>
            <a:r>
              <a:rPr lang="en-US" sz="2400" b="0" i="0" dirty="0">
                <a:effectLst/>
                <a:latin typeface="charter-regular"/>
              </a:rPr>
              <a:t> </a:t>
            </a:r>
            <a:r>
              <a:rPr lang="en-US" sz="2400" b="0" i="0" dirty="0" err="1">
                <a:effectLst/>
                <a:latin typeface="charter-regular"/>
              </a:rPr>
              <a:t>Dasaratha</a:t>
            </a:r>
            <a:r>
              <a:rPr lang="en-US" sz="2400" b="0" i="0" dirty="0">
                <a:effectLst/>
                <a:latin typeface="charter-regular"/>
              </a:rPr>
              <a:t> Rama Rao</a:t>
            </a:r>
            <a:r>
              <a:rPr lang="en-US" sz="2400" dirty="0">
                <a:latin typeface="charter-regular"/>
              </a:rPr>
              <a:t> V. State of A P</a:t>
            </a:r>
          </a:p>
          <a:p>
            <a:pPr marL="800100" lvl="1" indent="-342900" algn="just">
              <a:buFont typeface="Arial" panose="020B0604020202020204" pitchFamily="34" charset="0"/>
              <a:buChar char="•"/>
            </a:pPr>
            <a:r>
              <a:rPr lang="en-US" sz="2400" b="0" i="0" dirty="0">
                <a:effectLst/>
                <a:latin typeface="charter-regular"/>
              </a:rPr>
              <a:t>Madras Hereditary Village Officers Act, 1895</a:t>
            </a:r>
          </a:p>
          <a:p>
            <a:pPr marL="342900" indent="-342900" algn="just">
              <a:buFont typeface="Arial" panose="020B0604020202020204" pitchFamily="34" charset="0"/>
              <a:buChar char="•"/>
            </a:pPr>
            <a:r>
              <a:rPr lang="en-US" sz="2400" dirty="0">
                <a:latin typeface="charter-regular"/>
              </a:rPr>
              <a:t>Compassionate Appointments?</a:t>
            </a:r>
          </a:p>
        </p:txBody>
      </p:sp>
      <p:pic>
        <p:nvPicPr>
          <p:cNvPr id="2" name="Picture 1">
            <a:extLst>
              <a:ext uri="{FF2B5EF4-FFF2-40B4-BE49-F238E27FC236}">
                <a16:creationId xmlns:a16="http://schemas.microsoft.com/office/drawing/2014/main" id="{AD6DBA0C-BCDA-30FD-2264-EC831642CF91}"/>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3043785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Article 15-16 and the finer dimensions of equality</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4524315"/>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Art. 16</a:t>
            </a:r>
          </a:p>
          <a:p>
            <a:pPr marL="457200" indent="-457200" algn="just">
              <a:buAutoNum type="arabicParenBoth" startAt="3"/>
            </a:pPr>
            <a:r>
              <a:rPr lang="en-US" sz="2400" b="0" i="0" dirty="0">
                <a:effectLst/>
                <a:latin typeface="charter-regular"/>
              </a:rPr>
              <a:t>Nothing in this article shall prevent Parliament from making any law prescribing, in regard to a class or classes of employment or appointment to an office under the Government of, or any local or other authority within, a State or Union territory, any </a:t>
            </a:r>
            <a:r>
              <a:rPr lang="en-US" sz="2400" b="0" i="0" dirty="0">
                <a:solidFill>
                  <a:srgbClr val="FF0000"/>
                </a:solidFill>
                <a:effectLst/>
                <a:latin typeface="charter-regular"/>
              </a:rPr>
              <a:t>requirement as to residence within that State or Union territory</a:t>
            </a:r>
            <a:r>
              <a:rPr lang="en-US" sz="2400" b="0" i="0" dirty="0">
                <a:solidFill>
                  <a:srgbClr val="4C4C4C"/>
                </a:solidFill>
                <a:effectLst/>
                <a:latin typeface="charter-regular"/>
              </a:rPr>
              <a:t> </a:t>
            </a:r>
            <a:r>
              <a:rPr lang="en-US" sz="2400" b="0" i="0" dirty="0">
                <a:effectLst/>
                <a:latin typeface="charter-regular"/>
              </a:rPr>
              <a:t>prior to such employment or appointment.</a:t>
            </a:r>
          </a:p>
          <a:p>
            <a:pPr algn="just"/>
            <a:endParaRPr lang="en-US" sz="2400" b="0" i="0" dirty="0">
              <a:solidFill>
                <a:srgbClr val="4C4C4C"/>
              </a:solidFill>
              <a:effectLst/>
              <a:latin typeface="charter-regular"/>
            </a:endParaRPr>
          </a:p>
          <a:p>
            <a:pPr algn="just"/>
            <a:endParaRPr lang="en-US" sz="2400" b="0" i="0" dirty="0">
              <a:solidFill>
                <a:srgbClr val="4C4C4C"/>
              </a:solidFill>
              <a:effectLst/>
              <a:latin typeface="charter-regular"/>
            </a:endParaRPr>
          </a:p>
          <a:p>
            <a:pPr algn="just"/>
            <a:endParaRPr lang="en-US" sz="2400" b="0" i="0" dirty="0">
              <a:solidFill>
                <a:srgbClr val="4C4C4C"/>
              </a:solidFill>
              <a:effectLst/>
              <a:latin typeface="charter-regular"/>
            </a:endParaRPr>
          </a:p>
          <a:p>
            <a:pPr marL="342900" indent="-342900" algn="just">
              <a:buFont typeface="Arial" panose="020B0604020202020204" pitchFamily="34" charset="0"/>
              <a:buChar char="•"/>
            </a:pPr>
            <a:endParaRPr lang="en-US" sz="2400" dirty="0"/>
          </a:p>
        </p:txBody>
      </p:sp>
      <p:pic>
        <p:nvPicPr>
          <p:cNvPr id="2" name="Picture 1">
            <a:extLst>
              <a:ext uri="{FF2B5EF4-FFF2-40B4-BE49-F238E27FC236}">
                <a16:creationId xmlns:a16="http://schemas.microsoft.com/office/drawing/2014/main" id="{3688D670-722C-FEAD-3FC0-B7D20745D83A}"/>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223033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Article 15-16 and the finer dimensions of equality</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3231654"/>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Article 15 and 16 together provides for reservation and special provisions for backward class, SC and ST communities. </a:t>
            </a:r>
          </a:p>
          <a:p>
            <a:pPr marL="342900" indent="-342900" algn="just">
              <a:buFont typeface="Arial" panose="020B0604020202020204" pitchFamily="34" charset="0"/>
              <a:buChar char="•"/>
            </a:pPr>
            <a:r>
              <a:rPr lang="en-US" sz="2400" dirty="0"/>
              <a:t>Nothing in this article or in clause ( 2 ) of Article 29 shall prevent the State from making any special provision for the advancement of any </a:t>
            </a:r>
            <a:r>
              <a:rPr lang="en-US" sz="2400" dirty="0">
                <a:solidFill>
                  <a:srgbClr val="FF0000"/>
                </a:solidFill>
              </a:rPr>
              <a:t>socially and educationally backward classes of citizens </a:t>
            </a:r>
            <a:r>
              <a:rPr lang="en-US" sz="3600" dirty="0">
                <a:solidFill>
                  <a:srgbClr val="92D050"/>
                </a:solidFill>
              </a:rPr>
              <a:t>or</a:t>
            </a:r>
            <a:r>
              <a:rPr lang="en-US" sz="2400" dirty="0"/>
              <a:t> for the </a:t>
            </a:r>
            <a:r>
              <a:rPr lang="en-US" sz="2400" dirty="0">
                <a:solidFill>
                  <a:srgbClr val="FF0000"/>
                </a:solidFill>
              </a:rPr>
              <a:t>Scheduled Castes and the Scheduled Tribes</a:t>
            </a:r>
          </a:p>
        </p:txBody>
      </p:sp>
      <p:pic>
        <p:nvPicPr>
          <p:cNvPr id="2" name="Picture 1">
            <a:extLst>
              <a:ext uri="{FF2B5EF4-FFF2-40B4-BE49-F238E27FC236}">
                <a16:creationId xmlns:a16="http://schemas.microsoft.com/office/drawing/2014/main" id="{A44FE177-01D2-8931-9392-54C6429F8F8C}"/>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14518626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Article 15-16 and the finer dimensions of equality</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93111" y="1868853"/>
            <a:ext cx="7898633" cy="3785652"/>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Art. 15 (5)- Nothing in this article or in sub-clause (g) of clause (1) of article 19 shall prevent the State from making any special provision, by law, for the advancement of any </a:t>
            </a:r>
            <a:r>
              <a:rPr lang="en-US" sz="2400" dirty="0">
                <a:solidFill>
                  <a:srgbClr val="FF0000"/>
                </a:solidFill>
              </a:rPr>
              <a:t>socially and educationally backward classes </a:t>
            </a:r>
            <a:r>
              <a:rPr lang="en-US" sz="2400" dirty="0"/>
              <a:t>of citizens </a:t>
            </a:r>
            <a:r>
              <a:rPr lang="en-US" sz="2400" dirty="0">
                <a:solidFill>
                  <a:schemeClr val="accent6"/>
                </a:solidFill>
              </a:rPr>
              <a:t>or </a:t>
            </a:r>
            <a:r>
              <a:rPr lang="en-US" sz="2400" dirty="0"/>
              <a:t>for the </a:t>
            </a:r>
            <a:r>
              <a:rPr lang="en-US" sz="2400" dirty="0">
                <a:solidFill>
                  <a:srgbClr val="FF0000"/>
                </a:solidFill>
              </a:rPr>
              <a:t>Scheduled Castes or the Scheduled Tribes </a:t>
            </a:r>
            <a:r>
              <a:rPr lang="en-US" sz="2400" dirty="0"/>
              <a:t>in so far as </a:t>
            </a:r>
            <a:r>
              <a:rPr lang="en-US" sz="2400" dirty="0">
                <a:solidFill>
                  <a:srgbClr val="FF0000"/>
                </a:solidFill>
              </a:rPr>
              <a:t>such special provisions relate to their admission to educational institutions including private educational institutions, </a:t>
            </a:r>
            <a:r>
              <a:rPr lang="en-US" sz="2400" dirty="0"/>
              <a:t>whether aided or unaided by the State, </a:t>
            </a:r>
            <a:r>
              <a:rPr lang="en-US" sz="2400" dirty="0">
                <a:solidFill>
                  <a:srgbClr val="FF0000"/>
                </a:solidFill>
              </a:rPr>
              <a:t>other than </a:t>
            </a:r>
            <a:r>
              <a:rPr lang="en-US" sz="2400" dirty="0"/>
              <a:t>the minority educational institutions referred to in clause (1) of article 30.</a:t>
            </a:r>
          </a:p>
        </p:txBody>
      </p:sp>
      <p:pic>
        <p:nvPicPr>
          <p:cNvPr id="2" name="Picture 1">
            <a:extLst>
              <a:ext uri="{FF2B5EF4-FFF2-40B4-BE49-F238E27FC236}">
                <a16:creationId xmlns:a16="http://schemas.microsoft.com/office/drawing/2014/main" id="{503DBCE9-5BD4-7F0F-D39B-873673DCA976}"/>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15327167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20A7DEA-950C-4954-B3B7-2672370FABF4}"/>
              </a:ext>
            </a:extLst>
          </p:cNvPr>
          <p:cNvSpPr/>
          <p:nvPr/>
        </p:nvSpPr>
        <p:spPr>
          <a:xfrm>
            <a:off x="371880" y="651898"/>
            <a:ext cx="7999758" cy="461665"/>
          </a:xfrm>
          <a:prstGeom prst="rect">
            <a:avLst/>
          </a:prstGeom>
        </p:spPr>
        <p:txBody>
          <a:bodyPr wrap="square">
            <a:spAutoFit/>
          </a:bodyPr>
          <a:lstStyle/>
          <a:p>
            <a:r>
              <a:rPr lang="en-US" sz="2400" b="1" dirty="0">
                <a:solidFill>
                  <a:schemeClr val="accent2">
                    <a:lumMod val="75000"/>
                  </a:schemeClr>
                </a:solidFill>
              </a:rPr>
              <a:t>Art. 17 &amp; 18 </a:t>
            </a:r>
          </a:p>
        </p:txBody>
      </p:sp>
      <p:cxnSp>
        <p:nvCxnSpPr>
          <p:cNvPr id="8" name="Straight Connector 7">
            <a:extLst>
              <a:ext uri="{FF2B5EF4-FFF2-40B4-BE49-F238E27FC236}">
                <a16:creationId xmlns:a16="http://schemas.microsoft.com/office/drawing/2014/main" id="{A4293697-6E2C-4331-B4E1-C58B355192F4}"/>
              </a:ext>
            </a:extLst>
          </p:cNvPr>
          <p:cNvCxnSpPr>
            <a:cxnSpLocks/>
          </p:cNvCxnSpPr>
          <p:nvPr/>
        </p:nvCxnSpPr>
        <p:spPr>
          <a:xfrm>
            <a:off x="-8308" y="1316458"/>
            <a:ext cx="8300052" cy="0"/>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8CE83B1-4814-4C9B-8095-7F6242756005}"/>
              </a:ext>
            </a:extLst>
          </p:cNvPr>
          <p:cNvSpPr/>
          <p:nvPr/>
        </p:nvSpPr>
        <p:spPr>
          <a:xfrm>
            <a:off x="393111" y="252240"/>
            <a:ext cx="7497214" cy="461665"/>
          </a:xfrm>
          <a:prstGeom prst="rect">
            <a:avLst/>
          </a:prstGeom>
        </p:spPr>
        <p:txBody>
          <a:bodyPr wrap="square">
            <a:spAutoFit/>
          </a:bodyPr>
          <a:lstStyle/>
          <a:p>
            <a:r>
              <a:rPr lang="en-US" sz="2400" b="1" dirty="0">
                <a:solidFill>
                  <a:schemeClr val="accent1">
                    <a:lumMod val="75000"/>
                  </a:schemeClr>
                </a:solidFill>
              </a:rPr>
              <a:t>CONSTITUTIONAL LAW-I</a:t>
            </a:r>
          </a:p>
        </p:txBody>
      </p:sp>
      <p:sp>
        <p:nvSpPr>
          <p:cNvPr id="3" name="TextBox 2">
            <a:extLst>
              <a:ext uri="{FF2B5EF4-FFF2-40B4-BE49-F238E27FC236}">
                <a16:creationId xmlns:a16="http://schemas.microsoft.com/office/drawing/2014/main" id="{DADC3F1F-DD13-422E-9450-2895A8B993A1}"/>
              </a:ext>
            </a:extLst>
          </p:cNvPr>
          <p:cNvSpPr txBox="1"/>
          <p:nvPr/>
        </p:nvSpPr>
        <p:spPr>
          <a:xfrm>
            <a:off x="371880" y="1316458"/>
            <a:ext cx="8790781" cy="2308324"/>
          </a:xfrm>
          <a:prstGeom prst="rect">
            <a:avLst/>
          </a:prstGeom>
          <a:noFill/>
        </p:spPr>
        <p:txBody>
          <a:bodyPr wrap="square" rtlCol="0">
            <a:spAutoFit/>
          </a:bodyPr>
          <a:lstStyle/>
          <a:p>
            <a:pPr marL="342900" marR="0" lvl="0" indent="-342900" algn="just">
              <a:spcBef>
                <a:spcPts val="0"/>
              </a:spcBef>
              <a:buFont typeface="Wingdings" panose="05000000000000000000" pitchFamily="2" charset="2"/>
              <a:buChar char=""/>
            </a:pPr>
            <a:r>
              <a:rPr lang="en-US" sz="2400" b="1" dirty="0">
                <a:ea typeface="Calibri" panose="020F0502020204030204" pitchFamily="34" charset="0"/>
                <a:cs typeface="Times New Roman" panose="02020603050405020304" pitchFamily="18" charset="0"/>
              </a:rPr>
              <a:t>Article 17 : Abolition of </a:t>
            </a:r>
            <a:r>
              <a:rPr lang="en-US" sz="2400" b="1" dirty="0" err="1">
                <a:ea typeface="Calibri" panose="020F0502020204030204" pitchFamily="34" charset="0"/>
                <a:cs typeface="Times New Roman" panose="02020603050405020304" pitchFamily="18" charset="0"/>
              </a:rPr>
              <a:t>Untouchability</a:t>
            </a:r>
            <a:r>
              <a:rPr lang="en-US" sz="2400" b="1" dirty="0">
                <a:ea typeface="Calibri" panose="020F0502020204030204" pitchFamily="34" charset="0"/>
                <a:cs typeface="Times New Roman" panose="02020603050405020304" pitchFamily="18" charset="0"/>
              </a:rPr>
              <a:t>: </a:t>
            </a:r>
            <a:r>
              <a:rPr lang="en-US" sz="2400" dirty="0" err="1">
                <a:ea typeface="Calibri" panose="020F0502020204030204" pitchFamily="34" charset="0"/>
                <a:cs typeface="Times New Roman" panose="02020603050405020304" pitchFamily="18" charset="0"/>
              </a:rPr>
              <a:t>Untouchability</a:t>
            </a:r>
            <a:r>
              <a:rPr lang="en-US" sz="2400" dirty="0">
                <a:ea typeface="Calibri" panose="020F0502020204030204" pitchFamily="34" charset="0"/>
                <a:cs typeface="Times New Roman" panose="02020603050405020304" pitchFamily="18" charset="0"/>
              </a:rPr>
              <a:t> is abolished and its practice is </a:t>
            </a:r>
            <a:r>
              <a:rPr lang="en-US" sz="2400" b="1" dirty="0">
                <a:ea typeface="Calibri" panose="020F0502020204030204" pitchFamily="34" charset="0"/>
                <a:cs typeface="Times New Roman" panose="02020603050405020304" pitchFamily="18" charset="0"/>
              </a:rPr>
              <a:t>forbidden</a:t>
            </a:r>
            <a:r>
              <a:rPr lang="en-US" sz="2400" dirty="0">
                <a:ea typeface="Calibri" panose="020F0502020204030204" pitchFamily="34" charset="0"/>
                <a:cs typeface="Times New Roman" panose="02020603050405020304" pitchFamily="18" charset="0"/>
              </a:rPr>
              <a:t> in any form. It is an offence which is </a:t>
            </a:r>
            <a:r>
              <a:rPr lang="en-US" sz="2400" b="1" dirty="0">
                <a:ea typeface="Calibri" panose="020F0502020204030204" pitchFamily="34" charset="0"/>
                <a:cs typeface="Times New Roman" panose="02020603050405020304" pitchFamily="18" charset="0"/>
              </a:rPr>
              <a:t>punishable</a:t>
            </a:r>
            <a:r>
              <a:rPr lang="en-US" sz="2400" dirty="0">
                <a:ea typeface="Calibri" panose="020F0502020204030204" pitchFamily="34" charset="0"/>
                <a:cs typeface="Times New Roman" panose="02020603050405020304" pitchFamily="18" charset="0"/>
              </a:rPr>
              <a:t> in accordance with law. Protection of Civil Rights, 1955 has been implemented in India. </a:t>
            </a:r>
          </a:p>
          <a:p>
            <a:pPr lvl="0" algn="just"/>
            <a:endParaRPr lang="en-US" sz="2400" dirty="0">
              <a:ea typeface="Calibri" panose="020F0502020204030204" pitchFamily="34" charset="0"/>
              <a:cs typeface="Times New Roman" panose="02020603050405020304" pitchFamily="18" charset="0"/>
            </a:endParaRPr>
          </a:p>
          <a:p>
            <a:pPr marR="0" lvl="0" algn="just">
              <a:spcBef>
                <a:spcPts val="0"/>
              </a:spcBef>
              <a:buFont typeface="Wingdings" panose="05000000000000000000" pitchFamily="2" charset="2"/>
              <a:buChar char="Ø"/>
            </a:pPr>
            <a:r>
              <a:rPr lang="en-US" sz="2400" b="1" dirty="0">
                <a:ea typeface="Calibri" panose="020F0502020204030204" pitchFamily="34" charset="0"/>
                <a:cs typeface="Times New Roman" panose="02020603050405020304" pitchFamily="18" charset="0"/>
              </a:rPr>
              <a:t>Article 18: Abolition of Titles (</a:t>
            </a:r>
            <a:r>
              <a:rPr lang="en-US" sz="2400" b="1" dirty="0" err="1">
                <a:ea typeface="Calibri" panose="020F0502020204030204" pitchFamily="34" charset="0"/>
                <a:cs typeface="Times New Roman" panose="02020603050405020304" pitchFamily="18" charset="0"/>
              </a:rPr>
              <a:t>Rajabahudur</a:t>
            </a:r>
            <a:r>
              <a:rPr lang="en-US" sz="2400" b="1" dirty="0">
                <a:ea typeface="Calibri" panose="020F0502020204030204" pitchFamily="34" charset="0"/>
                <a:cs typeface="Times New Roman" panose="02020603050405020304" pitchFamily="18" charset="0"/>
              </a:rPr>
              <a:t>, </a:t>
            </a:r>
            <a:r>
              <a:rPr lang="en-US" sz="2400" b="1" dirty="0" err="1">
                <a:ea typeface="Calibri" panose="020F0502020204030204" pitchFamily="34" charset="0"/>
                <a:cs typeface="Times New Roman" panose="02020603050405020304" pitchFamily="18" charset="0"/>
              </a:rPr>
              <a:t>Diwan</a:t>
            </a:r>
            <a:r>
              <a:rPr lang="en-US" sz="2400" b="1" dirty="0">
                <a:ea typeface="Calibri" panose="020F0502020204030204" pitchFamily="34" charset="0"/>
                <a:cs typeface="Times New Roman" panose="02020603050405020304" pitchFamily="18" charset="0"/>
              </a:rPr>
              <a:t> etc)</a:t>
            </a:r>
            <a:r>
              <a:rPr lang="en-US" sz="2400" dirty="0"/>
              <a:t>	</a:t>
            </a:r>
          </a:p>
        </p:txBody>
      </p:sp>
      <p:pic>
        <p:nvPicPr>
          <p:cNvPr id="2" name="Picture 1">
            <a:extLst>
              <a:ext uri="{FF2B5EF4-FFF2-40B4-BE49-F238E27FC236}">
                <a16:creationId xmlns:a16="http://schemas.microsoft.com/office/drawing/2014/main" id="{34E625EE-2C7A-2942-1E78-BCDE4C3DB342}"/>
              </a:ext>
            </a:extLst>
          </p:cNvPr>
          <p:cNvPicPr>
            <a:picLocks noChangeAspect="1"/>
          </p:cNvPicPr>
          <p:nvPr/>
        </p:nvPicPr>
        <p:blipFill rotWithShape="1">
          <a:blip r:embed="rId2" cstate="print"/>
          <a:srcRect l="32065" t="18449" r="31457" b="20615"/>
          <a:stretch/>
        </p:blipFill>
        <p:spPr>
          <a:xfrm>
            <a:off x="11078817" y="35285"/>
            <a:ext cx="1069984" cy="1787417"/>
          </a:xfrm>
          <a:prstGeom prst="rect">
            <a:avLst/>
          </a:prstGeom>
        </p:spPr>
      </p:pic>
    </p:spTree>
    <p:extLst>
      <p:ext uri="{BB962C8B-B14F-4D97-AF65-F5344CB8AC3E}">
        <p14:creationId xmlns:p14="http://schemas.microsoft.com/office/powerpoint/2010/main" val="40906880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5439</TotalTime>
  <Words>1755</Words>
  <Application>Microsoft Office PowerPoint</Application>
  <PresentationFormat>Widescreen</PresentationFormat>
  <Paragraphs>186</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Calibri Light</vt:lpstr>
      <vt:lpstr>charter-regular</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Krishna Venkataram</dc:creator>
  <cp:lastModifiedBy>M Shobharani</cp:lastModifiedBy>
  <cp:revision>166</cp:revision>
  <dcterms:created xsi:type="dcterms:W3CDTF">2020-06-03T14:19:11Z</dcterms:created>
  <dcterms:modified xsi:type="dcterms:W3CDTF">2025-08-29T15:45:02Z</dcterms:modified>
</cp:coreProperties>
</file>